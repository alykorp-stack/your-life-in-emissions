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3.xml" ContentType="application/vnd.openxmlformats-officedocument.drawingml.chartshapes+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4.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5.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97" r:id="rId2"/>
    <p:sldId id="321" r:id="rId3"/>
    <p:sldId id="300" r:id="rId4"/>
    <p:sldId id="301" r:id="rId5"/>
    <p:sldId id="340" r:id="rId6"/>
    <p:sldId id="311" r:id="rId7"/>
    <p:sldId id="309" r:id="rId8"/>
    <p:sldId id="257" r:id="rId9"/>
    <p:sldId id="313" r:id="rId10"/>
    <p:sldId id="323" r:id="rId11"/>
    <p:sldId id="324" r:id="rId12"/>
    <p:sldId id="345" r:id="rId13"/>
    <p:sldId id="325" r:id="rId14"/>
    <p:sldId id="326" r:id="rId15"/>
    <p:sldId id="327" r:id="rId16"/>
    <p:sldId id="328" r:id="rId17"/>
    <p:sldId id="329" r:id="rId18"/>
    <p:sldId id="341" r:id="rId19"/>
    <p:sldId id="342" r:id="rId20"/>
    <p:sldId id="330" r:id="rId21"/>
    <p:sldId id="331" r:id="rId22"/>
    <p:sldId id="332" r:id="rId23"/>
    <p:sldId id="335" r:id="rId24"/>
    <p:sldId id="334" r:id="rId25"/>
    <p:sldId id="336" r:id="rId26"/>
    <p:sldId id="337" r:id="rId27"/>
    <p:sldId id="338" r:id="rId28"/>
    <p:sldId id="339" r:id="rId29"/>
    <p:sldId id="322" r:id="rId30"/>
    <p:sldId id="344" r:id="rId31"/>
    <p:sldId id="34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865"/>
    <p:restoredTop sz="94699"/>
  </p:normalViewPr>
  <p:slideViewPr>
    <p:cSldViewPr snapToGrid="0" snapToObjects="1">
      <p:cViewPr varScale="1">
        <p:scale>
          <a:sx n="92" d="100"/>
          <a:sy n="92" d="100"/>
        </p:scale>
        <p:origin x="184" y="664"/>
      </p:cViewPr>
      <p:guideLst/>
    </p:cSldViewPr>
  </p:slideViewPr>
  <p:outlineViewPr>
    <p:cViewPr>
      <p:scale>
        <a:sx n="33" d="100"/>
        <a:sy n="33" d="100"/>
      </p:scale>
      <p:origin x="0" y="-21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8355-EC46-86D3-530BF85698FB}"/>
              </c:ext>
            </c:extLst>
          </c:dPt>
          <c:dPt>
            <c:idx val="1"/>
            <c:bubble3D val="0"/>
            <c:spPr>
              <a:solidFill>
                <a:schemeClr val="bg2">
                  <a:lumMod val="75000"/>
                </a:schemeClr>
              </a:solidFill>
              <a:ln w="9525" cap="flat" cmpd="sng" algn="ctr">
                <a:solidFill>
                  <a:schemeClr val="accent2">
                    <a:shade val="95000"/>
                  </a:schemeClr>
                </a:solidFill>
                <a:round/>
              </a:ln>
              <a:effectLst/>
            </c:spPr>
            <c:extLst>
              <c:ext xmlns:c16="http://schemas.microsoft.com/office/drawing/2014/chart" uri="{C3380CC4-5D6E-409C-BE32-E72D297353CC}">
                <c16:uniqueId val="{00000003-8355-EC46-86D3-530BF85698FB}"/>
              </c:ext>
            </c:extLst>
          </c:dPt>
          <c:dPt>
            <c:idx val="2"/>
            <c:bubble3D val="0"/>
            <c:spPr>
              <a:solidFill>
                <a:schemeClr val="accent2"/>
              </a:solidFill>
              <a:ln w="9525" cap="flat" cmpd="sng" algn="ctr">
                <a:solidFill>
                  <a:schemeClr val="accent3">
                    <a:shade val="95000"/>
                  </a:schemeClr>
                </a:solidFill>
                <a:round/>
              </a:ln>
              <a:effectLst/>
            </c:spPr>
            <c:extLst>
              <c:ext xmlns:c16="http://schemas.microsoft.com/office/drawing/2014/chart" uri="{C3380CC4-5D6E-409C-BE32-E72D297353CC}">
                <c16:uniqueId val="{00000005-8355-EC46-86D3-530BF85698FB}"/>
              </c:ext>
            </c:extLst>
          </c:dPt>
          <c:dPt>
            <c:idx val="3"/>
            <c:bubble3D val="0"/>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extLst>
              <c:ext xmlns:c16="http://schemas.microsoft.com/office/drawing/2014/chart" uri="{C3380CC4-5D6E-409C-BE32-E72D297353CC}">
                <c16:uniqueId val="{00000007-8355-EC46-86D3-530BF85698FB}"/>
              </c:ext>
            </c:extLst>
          </c:dPt>
          <c:dLbls>
            <c:dLbl>
              <c:idx val="0"/>
              <c:layout>
                <c:manualLayout>
                  <c:x val="-1.9686465822207001E-3"/>
                  <c:y val="-4.1018840190598597E-3"/>
                </c:manualLayout>
              </c:layout>
              <c:tx>
                <c:rich>
                  <a:bodyPr rot="0" spcFirstLastPara="1" vertOverflow="overflow" horzOverflow="overflow" vert="horz" wrap="square" lIns="38100" tIns="19050" rIns="38100" bIns="19050" anchor="ctr" anchorCtr="1">
                    <a:norm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fld id="{5B93B049-89E4-0143-B077-ECB623A91F42}" type="CATEGORYNAME">
                      <a:rPr lang="en-US" smtClean="0"/>
                      <a:pPr>
                        <a:defRPr sz="1400" b="1">
                          <a:latin typeface="Arial Black" panose="020B0A04020102020204" pitchFamily="34" charset="0"/>
                        </a:defRPr>
                      </a:pPr>
                      <a:t>[CATEGORY NAME]</a:t>
                    </a:fld>
                    <a:r>
                      <a:rPr lang="en-US" dirty="0"/>
                      <a:t> (Sattva)</a:t>
                    </a:r>
                  </a:p>
                </c:rich>
              </c:tx>
              <c:spPr>
                <a:xfrm>
                  <a:off x="6521441" y="1208068"/>
                  <a:ext cx="1331911" cy="250286"/>
                </a:xfrm>
                <a:solidFill>
                  <a:prstClr val="white"/>
                </a:solidFill>
                <a:ln>
                  <a:noFill/>
                </a:ln>
                <a:effectLst/>
              </c:spPr>
              <c:txPr>
                <a:bodyPr rot="0" spcFirstLastPara="1" vertOverflow="overflow" horzOverflow="overflow" vert="horz" wrap="square" lIns="38100" tIns="19050" rIns="38100" bIns="19050" anchor="ctr" anchorCtr="1">
                  <a:norm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8944"/>
                        <a:gd name="adj2" fmla="val -330401"/>
                      </a:avLst>
                    </a:prstGeom>
                    <a:noFill/>
                    <a:ln>
                      <a:noFill/>
                    </a:ln>
                  </c15:spPr>
                  <c15:layout>
                    <c:manualLayout>
                      <c:w val="0.181008311461067"/>
                      <c:h val="6.9193889327834296E-2"/>
                    </c:manualLayout>
                  </c15:layout>
                  <c15:dlblFieldTable/>
                  <c15:showDataLabelsRange val="0"/>
                </c:ext>
                <c:ext xmlns:c16="http://schemas.microsoft.com/office/drawing/2014/chart" uri="{C3380CC4-5D6E-409C-BE32-E72D297353CC}">
                  <c16:uniqueId val="{00000001-8355-EC46-86D3-530BF85698FB}"/>
                </c:ext>
              </c:extLst>
            </c:dLbl>
            <c:dLbl>
              <c:idx val="1"/>
              <c:layout>
                <c:manualLayout>
                  <c:x val="-5.7305336832891047E-4"/>
                  <c:y val="4.5238843776327989E-2"/>
                </c:manualLayout>
              </c:layout>
              <c:tx>
                <c:rich>
                  <a:bodyPr rot="0" spcFirstLastPara="1" vertOverflow="overflow" horzOverflow="overflow" vert="horz" wrap="non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r>
                      <a:rPr lang="en-US" dirty="0"/>
                      <a:t>Discipline (Tamas)</a:t>
                    </a:r>
                  </a:p>
                </c:rich>
              </c:tx>
              <c:spPr>
                <a:solidFill>
                  <a:prstClr val="white"/>
                </a:solidFill>
                <a:ln>
                  <a:noFill/>
                </a:ln>
                <a:effectLst/>
              </c:spPr>
              <c:txPr>
                <a:bodyPr rot="0" spcFirstLastPara="1" vertOverflow="overflow" horzOverflow="overflow" vert="horz" wrap="non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23792270531401"/>
                      <c:h val="5.2439732330607274E-2"/>
                    </c:manualLayout>
                  </c15:layout>
                  <c15:showDataLabelsRange val="0"/>
                </c:ext>
                <c:ext xmlns:c16="http://schemas.microsoft.com/office/drawing/2014/chart" uri="{C3380CC4-5D6E-409C-BE32-E72D297353CC}">
                  <c16:uniqueId val="{00000003-8355-EC46-86D3-530BF85698FB}"/>
                </c:ext>
              </c:extLst>
            </c:dLbl>
            <c:dLbl>
              <c:idx val="2"/>
              <c:delete val="1"/>
              <c:extLst>
                <c:ext xmlns:c15="http://schemas.microsoft.com/office/drawing/2012/chart" uri="{CE6537A1-D6FC-4f65-9D91-7224C49458BB}"/>
                <c:ext xmlns:c16="http://schemas.microsoft.com/office/drawing/2014/chart" uri="{C3380CC4-5D6E-409C-BE32-E72D297353CC}">
                  <c16:uniqueId val="{00000005-8355-EC46-86D3-530BF85698FB}"/>
                </c:ext>
              </c:extLst>
            </c:dLbl>
            <c:spPr>
              <a:solidFill>
                <a:prstClr val="white"/>
              </a:solidFill>
              <a:ln>
                <a:noFill/>
              </a:ln>
              <a:effectLst/>
            </c:spPr>
            <c:txPr>
              <a:bodyPr rot="0" spcFirstLastPara="1" vertOverflow="overflow" horzOverflow="overflow" vert="horz" wrap="squar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3"/>
                <c:pt idx="0">
                  <c:v>Harmony</c:v>
                </c:pt>
                <c:pt idx="1">
                  <c:v>Suppression</c:v>
                </c:pt>
                <c:pt idx="2">
                  <c:v>Passion </c:v>
                </c:pt>
              </c:strCache>
            </c:strRef>
          </c:cat>
          <c:val>
            <c:numRef>
              <c:f>Sheet1!$B$2:$B$5</c:f>
              <c:numCache>
                <c:formatCode>General</c:formatCode>
                <c:ptCount val="4"/>
                <c:pt idx="0">
                  <c:v>33</c:v>
                </c:pt>
                <c:pt idx="1">
                  <c:v>33</c:v>
                </c:pt>
                <c:pt idx="2">
                  <c:v>33</c:v>
                </c:pt>
              </c:numCache>
            </c:numRef>
          </c:val>
          <c:extLst>
            <c:ext xmlns:c16="http://schemas.microsoft.com/office/drawing/2014/chart" uri="{C3380CC4-5D6E-409C-BE32-E72D297353CC}">
              <c16:uniqueId val="{00000008-8355-EC46-86D3-530BF85698FB}"/>
            </c:ext>
          </c:extLst>
        </c:ser>
        <c:dLbls>
          <c:dLblPos val="bestFit"/>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D211-8541-93AA-47931B4C50F4}"/>
              </c:ext>
            </c:extLst>
          </c:dPt>
          <c:dPt>
            <c:idx val="1"/>
            <c:bubble3D val="0"/>
            <c:spPr>
              <a:solidFill>
                <a:schemeClr val="bg2">
                  <a:lumMod val="75000"/>
                </a:schemeClr>
              </a:solidFill>
              <a:ln w="9525" cap="flat" cmpd="sng" algn="ctr">
                <a:solidFill>
                  <a:schemeClr val="accent2">
                    <a:shade val="95000"/>
                  </a:schemeClr>
                </a:solidFill>
                <a:round/>
              </a:ln>
              <a:effectLst/>
            </c:spPr>
            <c:extLst>
              <c:ext xmlns:c16="http://schemas.microsoft.com/office/drawing/2014/chart" uri="{C3380CC4-5D6E-409C-BE32-E72D297353CC}">
                <c16:uniqueId val="{00000003-D211-8541-93AA-47931B4C50F4}"/>
              </c:ext>
            </c:extLst>
          </c:dPt>
          <c:dPt>
            <c:idx val="2"/>
            <c:bubble3D val="0"/>
            <c:spPr>
              <a:solidFill>
                <a:schemeClr val="accent2"/>
              </a:solidFill>
              <a:ln w="9525" cap="flat" cmpd="sng" algn="ctr">
                <a:solidFill>
                  <a:schemeClr val="accent3">
                    <a:shade val="95000"/>
                  </a:schemeClr>
                </a:solidFill>
                <a:round/>
              </a:ln>
              <a:effectLst/>
            </c:spPr>
            <c:extLst>
              <c:ext xmlns:c16="http://schemas.microsoft.com/office/drawing/2014/chart" uri="{C3380CC4-5D6E-409C-BE32-E72D297353CC}">
                <c16:uniqueId val="{00000005-D211-8541-93AA-47931B4C50F4}"/>
              </c:ext>
            </c:extLst>
          </c:dPt>
          <c:dPt>
            <c:idx val="3"/>
            <c:bubble3D val="0"/>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extLst>
              <c:ext xmlns:c16="http://schemas.microsoft.com/office/drawing/2014/chart" uri="{C3380CC4-5D6E-409C-BE32-E72D297353CC}">
                <c16:uniqueId val="{00000007-D211-8541-93AA-47931B4C50F4}"/>
              </c:ext>
            </c:extLst>
          </c:dPt>
          <c:dLbls>
            <c:dLbl>
              <c:idx val="0"/>
              <c:layout>
                <c:manualLayout>
                  <c:x val="-1.9686465822207001E-3"/>
                  <c:y val="-4.1018840190598597E-3"/>
                </c:manualLayout>
              </c:layout>
              <c:spPr>
                <a:xfrm>
                  <a:off x="6521441" y="1208068"/>
                  <a:ext cx="1331911" cy="250286"/>
                </a:xfrm>
                <a:solidFill>
                  <a:prstClr val="white"/>
                </a:solidFill>
                <a:ln>
                  <a:noFill/>
                </a:ln>
                <a:effectLst/>
              </c:spPr>
              <c:txPr>
                <a:bodyPr rot="0" spcFirstLastPara="1" vertOverflow="overflow" horzOverflow="overflow" vert="horz" wrap="square" lIns="38100" tIns="19050" rIns="38100" bIns="19050" anchor="ctr" anchorCtr="1">
                  <a:norm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8944"/>
                        <a:gd name="adj2" fmla="val -330401"/>
                      </a:avLst>
                    </a:prstGeom>
                    <a:noFill/>
                    <a:ln>
                      <a:noFill/>
                    </a:ln>
                  </c15:spPr>
                  <c15:layout>
                    <c:manualLayout>
                      <c:w val="0.181008311461067"/>
                      <c:h val="6.9193889327834296E-2"/>
                    </c:manualLayout>
                  </c15:layout>
                </c:ext>
                <c:ext xmlns:c16="http://schemas.microsoft.com/office/drawing/2014/chart" uri="{C3380CC4-5D6E-409C-BE32-E72D297353CC}">
                  <c16:uniqueId val="{00000001-D211-8541-93AA-47931B4C50F4}"/>
                </c:ext>
              </c:extLst>
            </c:dLbl>
            <c:dLbl>
              <c:idx val="1"/>
              <c:layout>
                <c:manualLayout>
                  <c:x val="-5.7305336832891047E-4"/>
                  <c:y val="4.5238843776327989E-2"/>
                </c:manualLayout>
              </c:layout>
              <c:tx>
                <c:rich>
                  <a:bodyPr rot="0" spcFirstLastPara="1" vertOverflow="overflow" horzOverflow="overflow" vert="horz" wrap="non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r>
                      <a:rPr lang="en-US" dirty="0"/>
                      <a:t>Discipline</a:t>
                    </a:r>
                  </a:p>
                </c:rich>
              </c:tx>
              <c:spPr>
                <a:solidFill>
                  <a:prstClr val="white"/>
                </a:solidFill>
                <a:ln>
                  <a:noFill/>
                </a:ln>
                <a:effectLst/>
              </c:spPr>
              <c:txPr>
                <a:bodyPr rot="0" spcFirstLastPara="1" vertOverflow="overflow" horzOverflow="overflow" vert="horz" wrap="non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15:layout>
                    <c:manualLayout>
                      <c:w val="0.1223792270531401"/>
                      <c:h val="5.2439732330607274E-2"/>
                    </c:manualLayout>
                  </c15:layout>
                  <c15:showDataLabelsRange val="0"/>
                </c:ext>
                <c:ext xmlns:c16="http://schemas.microsoft.com/office/drawing/2014/chart" uri="{C3380CC4-5D6E-409C-BE32-E72D297353CC}">
                  <c16:uniqueId val="{00000003-D211-8541-93AA-47931B4C50F4}"/>
                </c:ext>
              </c:extLst>
            </c:dLbl>
            <c:dLbl>
              <c:idx val="2"/>
              <c:delete val="1"/>
              <c:extLst>
                <c:ext xmlns:c15="http://schemas.microsoft.com/office/drawing/2012/chart" uri="{CE6537A1-D6FC-4f65-9D91-7224C49458BB}"/>
                <c:ext xmlns:c16="http://schemas.microsoft.com/office/drawing/2014/chart" uri="{C3380CC4-5D6E-409C-BE32-E72D297353CC}">
                  <c16:uniqueId val="{00000005-D211-8541-93AA-47931B4C50F4}"/>
                </c:ext>
              </c:extLst>
            </c:dLbl>
            <c:spPr>
              <a:solidFill>
                <a:prstClr val="white"/>
              </a:solidFill>
              <a:ln>
                <a:noFill/>
              </a:ln>
              <a:effectLst/>
            </c:spPr>
            <c:txPr>
              <a:bodyPr rot="0" spcFirstLastPara="1" vertOverflow="overflow" horzOverflow="overflow" vert="horz" wrap="squar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3"/>
                <c:pt idx="0">
                  <c:v>Harmony</c:v>
                </c:pt>
                <c:pt idx="1">
                  <c:v>Suppression</c:v>
                </c:pt>
                <c:pt idx="2">
                  <c:v>Passion </c:v>
                </c:pt>
              </c:strCache>
            </c:strRef>
          </c:cat>
          <c:val>
            <c:numRef>
              <c:f>Sheet1!$B$2:$B$5</c:f>
              <c:numCache>
                <c:formatCode>General</c:formatCode>
                <c:ptCount val="4"/>
                <c:pt idx="0">
                  <c:v>33</c:v>
                </c:pt>
                <c:pt idx="1">
                  <c:v>33</c:v>
                </c:pt>
                <c:pt idx="2">
                  <c:v>33</c:v>
                </c:pt>
              </c:numCache>
            </c:numRef>
          </c:val>
          <c:extLst>
            <c:ext xmlns:c16="http://schemas.microsoft.com/office/drawing/2014/chart" uri="{C3380CC4-5D6E-409C-BE32-E72D297353CC}">
              <c16:uniqueId val="{00000008-D211-8541-93AA-47931B4C50F4}"/>
            </c:ext>
          </c:extLst>
        </c:ser>
        <c:dLbls>
          <c:dLblPos val="bestFit"/>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8CE9-43C8-A6A0-48057995BD54}"/>
              </c:ext>
            </c:extLst>
          </c:dPt>
          <c:dPt>
            <c:idx val="1"/>
            <c:bubble3D val="0"/>
            <c:spPr>
              <a:solidFill>
                <a:schemeClr val="bg2">
                  <a:lumMod val="75000"/>
                </a:schemeClr>
              </a:solidFill>
              <a:ln w="9525" cap="flat" cmpd="sng" algn="ctr">
                <a:solidFill>
                  <a:schemeClr val="accent2">
                    <a:shade val="95000"/>
                  </a:schemeClr>
                </a:solidFill>
                <a:round/>
              </a:ln>
              <a:effectLst/>
            </c:spPr>
            <c:extLst>
              <c:ext xmlns:c16="http://schemas.microsoft.com/office/drawing/2014/chart" uri="{C3380CC4-5D6E-409C-BE32-E72D297353CC}">
                <c16:uniqueId val="{00000003-8CE9-43C8-A6A0-48057995BD54}"/>
              </c:ext>
            </c:extLst>
          </c:dPt>
          <c:dPt>
            <c:idx val="2"/>
            <c:bubble3D val="0"/>
            <c:spPr>
              <a:solidFill>
                <a:schemeClr val="accent2"/>
              </a:solidFill>
              <a:ln w="9525" cap="flat" cmpd="sng" algn="ctr">
                <a:solidFill>
                  <a:schemeClr val="accent3">
                    <a:shade val="95000"/>
                  </a:schemeClr>
                </a:solidFill>
                <a:round/>
              </a:ln>
              <a:effectLst/>
            </c:spPr>
            <c:extLst>
              <c:ext xmlns:c16="http://schemas.microsoft.com/office/drawing/2014/chart" uri="{C3380CC4-5D6E-409C-BE32-E72D297353CC}">
                <c16:uniqueId val="{00000005-8CE9-43C8-A6A0-48057995BD54}"/>
              </c:ext>
            </c:extLst>
          </c:dPt>
          <c:dPt>
            <c:idx val="3"/>
            <c:bubble3D val="0"/>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extLst>
              <c:ext xmlns:c16="http://schemas.microsoft.com/office/drawing/2014/chart" uri="{C3380CC4-5D6E-409C-BE32-E72D297353CC}">
                <c16:uniqueId val="{00000007-8CE9-43C8-A6A0-48057995BD54}"/>
              </c:ext>
            </c:extLst>
          </c:dPt>
          <c:dLbls>
            <c:dLbl>
              <c:idx val="0"/>
              <c:layout>
                <c:manualLayout>
                  <c:x val="-1.9686465822207001E-3"/>
                  <c:y val="-4.1018840190598597E-3"/>
                </c:manualLayout>
              </c:layout>
              <c:spPr>
                <a:xfrm>
                  <a:off x="6521441" y="1208068"/>
                  <a:ext cx="1331911" cy="250286"/>
                </a:xfrm>
                <a:solidFill>
                  <a:prstClr val="white"/>
                </a:solidFill>
                <a:ln>
                  <a:noFill/>
                </a:ln>
                <a:effectLst/>
              </c:spPr>
              <c:txPr>
                <a:bodyPr rot="0" spcFirstLastPara="1" vertOverflow="overflow" horzOverflow="overflow" vert="horz" wrap="square" lIns="38100" tIns="19050" rIns="38100" bIns="19050" anchor="ctr" anchorCtr="1">
                  <a:norm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8944"/>
                        <a:gd name="adj2" fmla="val -330401"/>
                      </a:avLst>
                    </a:prstGeom>
                    <a:noFill/>
                    <a:ln>
                      <a:noFill/>
                    </a:ln>
                  </c15:spPr>
                  <c15:layout>
                    <c:manualLayout>
                      <c:w val="0.181008311461067"/>
                      <c:h val="6.9193889327834296E-2"/>
                    </c:manualLayout>
                  </c15:layout>
                </c:ext>
                <c:ext xmlns:c16="http://schemas.microsoft.com/office/drawing/2014/chart" uri="{C3380CC4-5D6E-409C-BE32-E72D297353CC}">
                  <c16:uniqueId val="{00000001-8CE9-43C8-A6A0-48057995BD54}"/>
                </c:ext>
              </c:extLst>
            </c:dLbl>
            <c:dLbl>
              <c:idx val="1"/>
              <c:delete val="1"/>
              <c:extLst>
                <c:ext xmlns:c15="http://schemas.microsoft.com/office/drawing/2012/chart" uri="{CE6537A1-D6FC-4f65-9D91-7224C49458BB}">
                  <c15:layout>
                    <c:manualLayout>
                      <c:w val="0.12237922705314"/>
                      <c:h val="1.15787373906601E-2"/>
                    </c:manualLayout>
                  </c15:layout>
                </c:ext>
                <c:ext xmlns:c16="http://schemas.microsoft.com/office/drawing/2014/chart" uri="{C3380CC4-5D6E-409C-BE32-E72D297353CC}">
                  <c16:uniqueId val="{00000003-8CE9-43C8-A6A0-48057995BD54}"/>
                </c:ext>
              </c:extLst>
            </c:dLbl>
            <c:dLbl>
              <c:idx val="2"/>
              <c:delete val="1"/>
              <c:extLst>
                <c:ext xmlns:c15="http://schemas.microsoft.com/office/drawing/2012/chart" uri="{CE6537A1-D6FC-4f65-9D91-7224C49458BB}"/>
                <c:ext xmlns:c16="http://schemas.microsoft.com/office/drawing/2014/chart" uri="{C3380CC4-5D6E-409C-BE32-E72D297353CC}">
                  <c16:uniqueId val="{00000005-8CE9-43C8-A6A0-48057995BD54}"/>
                </c:ext>
              </c:extLst>
            </c:dLbl>
            <c:spPr>
              <a:solidFill>
                <a:prstClr val="white"/>
              </a:solidFill>
              <a:ln>
                <a:noFill/>
              </a:ln>
              <a:effectLst/>
            </c:spPr>
            <c:txPr>
              <a:bodyPr rot="0" spcFirstLastPara="1" vertOverflow="overflow" horzOverflow="overflow" vert="horz" wrap="squar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3"/>
                <c:pt idx="0">
                  <c:v>Harmony</c:v>
                </c:pt>
                <c:pt idx="1">
                  <c:v>Suppression</c:v>
                </c:pt>
                <c:pt idx="2">
                  <c:v>Passion </c:v>
                </c:pt>
              </c:strCache>
            </c:strRef>
          </c:cat>
          <c:val>
            <c:numRef>
              <c:f>Sheet1!$B$2:$B$5</c:f>
              <c:numCache>
                <c:formatCode>General</c:formatCode>
                <c:ptCount val="4"/>
                <c:pt idx="0">
                  <c:v>33</c:v>
                </c:pt>
                <c:pt idx="1">
                  <c:v>33</c:v>
                </c:pt>
                <c:pt idx="2">
                  <c:v>33</c:v>
                </c:pt>
              </c:numCache>
            </c:numRef>
          </c:val>
          <c:extLst>
            <c:ext xmlns:c16="http://schemas.microsoft.com/office/drawing/2014/chart" uri="{C3380CC4-5D6E-409C-BE32-E72D297353CC}">
              <c16:uniqueId val="{00000008-8CE9-43C8-A6A0-48057995BD54}"/>
            </c:ext>
          </c:extLst>
        </c:ser>
        <c:dLbls>
          <c:dLblPos val="bestFit"/>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8CE9-43C8-A6A0-48057995BD54}"/>
              </c:ext>
            </c:extLst>
          </c:dPt>
          <c:dPt>
            <c:idx val="1"/>
            <c:bubble3D val="0"/>
            <c:spPr>
              <a:solidFill>
                <a:schemeClr val="bg2">
                  <a:lumMod val="75000"/>
                </a:schemeClr>
              </a:solidFill>
              <a:ln w="9525" cap="flat" cmpd="sng" algn="ctr">
                <a:solidFill>
                  <a:schemeClr val="accent2">
                    <a:shade val="95000"/>
                  </a:schemeClr>
                </a:solidFill>
                <a:round/>
              </a:ln>
              <a:effectLst/>
            </c:spPr>
            <c:extLst>
              <c:ext xmlns:c16="http://schemas.microsoft.com/office/drawing/2014/chart" uri="{C3380CC4-5D6E-409C-BE32-E72D297353CC}">
                <c16:uniqueId val="{00000003-8CE9-43C8-A6A0-48057995BD54}"/>
              </c:ext>
            </c:extLst>
          </c:dPt>
          <c:dPt>
            <c:idx val="2"/>
            <c:bubble3D val="0"/>
            <c:spPr>
              <a:solidFill>
                <a:schemeClr val="accent2"/>
              </a:solidFill>
              <a:ln w="9525" cap="flat" cmpd="sng" algn="ctr">
                <a:solidFill>
                  <a:schemeClr val="accent3">
                    <a:shade val="95000"/>
                  </a:schemeClr>
                </a:solidFill>
                <a:round/>
              </a:ln>
              <a:effectLst/>
            </c:spPr>
            <c:extLst>
              <c:ext xmlns:c16="http://schemas.microsoft.com/office/drawing/2014/chart" uri="{C3380CC4-5D6E-409C-BE32-E72D297353CC}">
                <c16:uniqueId val="{00000005-8CE9-43C8-A6A0-48057995BD54}"/>
              </c:ext>
            </c:extLst>
          </c:dPt>
          <c:dPt>
            <c:idx val="3"/>
            <c:bubble3D val="0"/>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extLst>
              <c:ext xmlns:c16="http://schemas.microsoft.com/office/drawing/2014/chart" uri="{C3380CC4-5D6E-409C-BE32-E72D297353CC}">
                <c16:uniqueId val="{00000007-8CE9-43C8-A6A0-48057995BD54}"/>
              </c:ext>
            </c:extLst>
          </c:dPt>
          <c:dLbls>
            <c:dLbl>
              <c:idx val="0"/>
              <c:layout>
                <c:manualLayout>
                  <c:x val="-1.9686465822207001E-3"/>
                  <c:y val="-4.1018840190598597E-3"/>
                </c:manualLayout>
              </c:layout>
              <c:spPr>
                <a:xfrm>
                  <a:off x="6521441" y="1208068"/>
                  <a:ext cx="1331911" cy="250286"/>
                </a:xfrm>
                <a:solidFill>
                  <a:prstClr val="white"/>
                </a:solidFill>
                <a:ln>
                  <a:noFill/>
                </a:ln>
                <a:effectLst/>
              </c:spPr>
              <c:txPr>
                <a:bodyPr rot="0" spcFirstLastPara="1" vertOverflow="overflow" horzOverflow="overflow" vert="horz" wrap="square" lIns="38100" tIns="19050" rIns="38100" bIns="19050" anchor="ctr" anchorCtr="1">
                  <a:norm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8944"/>
                        <a:gd name="adj2" fmla="val -330401"/>
                      </a:avLst>
                    </a:prstGeom>
                    <a:noFill/>
                    <a:ln>
                      <a:noFill/>
                    </a:ln>
                  </c15:spPr>
                  <c15:layout>
                    <c:manualLayout>
                      <c:w val="0.181008311461067"/>
                      <c:h val="6.9193889327834296E-2"/>
                    </c:manualLayout>
                  </c15:layout>
                </c:ext>
                <c:ext xmlns:c16="http://schemas.microsoft.com/office/drawing/2014/chart" uri="{C3380CC4-5D6E-409C-BE32-E72D297353CC}">
                  <c16:uniqueId val="{00000001-8CE9-43C8-A6A0-48057995BD54}"/>
                </c:ext>
              </c:extLst>
            </c:dLbl>
            <c:dLbl>
              <c:idx val="1"/>
              <c:delete val="1"/>
              <c:extLst>
                <c:ext xmlns:c15="http://schemas.microsoft.com/office/drawing/2012/chart" uri="{CE6537A1-D6FC-4f65-9D91-7224C49458BB}">
                  <c15:layout>
                    <c:manualLayout>
                      <c:w val="0.12237922705314"/>
                      <c:h val="1.15787373906601E-2"/>
                    </c:manualLayout>
                  </c15:layout>
                </c:ext>
                <c:ext xmlns:c16="http://schemas.microsoft.com/office/drawing/2014/chart" uri="{C3380CC4-5D6E-409C-BE32-E72D297353CC}">
                  <c16:uniqueId val="{00000003-8CE9-43C8-A6A0-48057995BD54}"/>
                </c:ext>
              </c:extLst>
            </c:dLbl>
            <c:dLbl>
              <c:idx val="2"/>
              <c:delete val="1"/>
              <c:extLst>
                <c:ext xmlns:c15="http://schemas.microsoft.com/office/drawing/2012/chart" uri="{CE6537A1-D6FC-4f65-9D91-7224C49458BB}"/>
                <c:ext xmlns:c16="http://schemas.microsoft.com/office/drawing/2014/chart" uri="{C3380CC4-5D6E-409C-BE32-E72D297353CC}">
                  <c16:uniqueId val="{00000005-8CE9-43C8-A6A0-48057995BD54}"/>
                </c:ext>
              </c:extLst>
            </c:dLbl>
            <c:spPr>
              <a:solidFill>
                <a:prstClr val="white"/>
              </a:solidFill>
              <a:ln>
                <a:noFill/>
              </a:ln>
              <a:effectLst/>
            </c:spPr>
            <c:txPr>
              <a:bodyPr rot="0" spcFirstLastPara="1" vertOverflow="overflow" horzOverflow="overflow" vert="horz" wrap="squar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3"/>
                <c:pt idx="0">
                  <c:v>Harmony</c:v>
                </c:pt>
                <c:pt idx="1">
                  <c:v>Suppression</c:v>
                </c:pt>
                <c:pt idx="2">
                  <c:v>Passion </c:v>
                </c:pt>
              </c:strCache>
            </c:strRef>
          </c:cat>
          <c:val>
            <c:numRef>
              <c:f>Sheet1!$B$2:$B$5</c:f>
              <c:numCache>
                <c:formatCode>General</c:formatCode>
                <c:ptCount val="4"/>
                <c:pt idx="0">
                  <c:v>33</c:v>
                </c:pt>
                <c:pt idx="1">
                  <c:v>33</c:v>
                </c:pt>
                <c:pt idx="2">
                  <c:v>33</c:v>
                </c:pt>
              </c:numCache>
            </c:numRef>
          </c:val>
          <c:extLst>
            <c:ext xmlns:c16="http://schemas.microsoft.com/office/drawing/2014/chart" uri="{C3380CC4-5D6E-409C-BE32-E72D297353CC}">
              <c16:uniqueId val="{00000008-8CE9-43C8-A6A0-48057995BD54}"/>
            </c:ext>
          </c:extLst>
        </c:ser>
        <c:dLbls>
          <c:dLblPos val="bestFit"/>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9525" cap="flat" cmpd="sng" algn="ctr">
                <a:solidFill>
                  <a:schemeClr val="accent1">
                    <a:shade val="95000"/>
                  </a:schemeClr>
                </a:solidFill>
                <a:round/>
              </a:ln>
              <a:effectLst/>
            </c:spPr>
            <c:extLst>
              <c:ext xmlns:c16="http://schemas.microsoft.com/office/drawing/2014/chart" uri="{C3380CC4-5D6E-409C-BE32-E72D297353CC}">
                <c16:uniqueId val="{00000001-3986-CB49-93F9-F0F1D272BFF4}"/>
              </c:ext>
            </c:extLst>
          </c:dPt>
          <c:dPt>
            <c:idx val="1"/>
            <c:bubble3D val="0"/>
            <c:spPr>
              <a:solidFill>
                <a:schemeClr val="bg2">
                  <a:lumMod val="75000"/>
                </a:schemeClr>
              </a:solidFill>
              <a:ln w="9525" cap="flat" cmpd="sng" algn="ctr">
                <a:solidFill>
                  <a:schemeClr val="accent2">
                    <a:shade val="95000"/>
                  </a:schemeClr>
                </a:solidFill>
                <a:round/>
              </a:ln>
              <a:effectLst/>
            </c:spPr>
            <c:extLst>
              <c:ext xmlns:c16="http://schemas.microsoft.com/office/drawing/2014/chart" uri="{C3380CC4-5D6E-409C-BE32-E72D297353CC}">
                <c16:uniqueId val="{00000003-3986-CB49-93F9-F0F1D272BFF4}"/>
              </c:ext>
            </c:extLst>
          </c:dPt>
          <c:dPt>
            <c:idx val="2"/>
            <c:bubble3D val="0"/>
            <c:spPr>
              <a:solidFill>
                <a:schemeClr val="accent2"/>
              </a:solidFill>
              <a:ln w="9525" cap="flat" cmpd="sng" algn="ctr">
                <a:solidFill>
                  <a:schemeClr val="accent3">
                    <a:shade val="95000"/>
                  </a:schemeClr>
                </a:solidFill>
                <a:round/>
              </a:ln>
              <a:effectLst/>
            </c:spPr>
            <c:extLst>
              <c:ext xmlns:c16="http://schemas.microsoft.com/office/drawing/2014/chart" uri="{C3380CC4-5D6E-409C-BE32-E72D297353CC}">
                <c16:uniqueId val="{00000005-3986-CB49-93F9-F0F1D272BFF4}"/>
              </c:ext>
            </c:extLst>
          </c:dPt>
          <c:dPt>
            <c:idx val="3"/>
            <c:bubble3D val="0"/>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9525" cap="flat" cmpd="sng" algn="ctr">
                <a:solidFill>
                  <a:schemeClr val="accent4">
                    <a:shade val="95000"/>
                  </a:schemeClr>
                </a:solidFill>
                <a:round/>
              </a:ln>
              <a:effectLst/>
            </c:spPr>
            <c:extLst>
              <c:ext xmlns:c16="http://schemas.microsoft.com/office/drawing/2014/chart" uri="{C3380CC4-5D6E-409C-BE32-E72D297353CC}">
                <c16:uniqueId val="{00000007-3986-CB49-93F9-F0F1D272BFF4}"/>
              </c:ext>
            </c:extLst>
          </c:dPt>
          <c:dLbls>
            <c:dLbl>
              <c:idx val="0"/>
              <c:layout>
                <c:manualLayout>
                  <c:x val="-1.9686465822207001E-3"/>
                  <c:y val="-4.1018840190598597E-3"/>
                </c:manualLayout>
              </c:layout>
              <c:spPr>
                <a:xfrm>
                  <a:off x="6521441" y="1208068"/>
                  <a:ext cx="1331911" cy="250286"/>
                </a:xfrm>
                <a:solidFill>
                  <a:prstClr val="white"/>
                </a:solidFill>
                <a:ln>
                  <a:noFill/>
                </a:ln>
                <a:effectLst/>
              </c:spPr>
              <c:txPr>
                <a:bodyPr rot="0" spcFirstLastPara="1" vertOverflow="overflow" horzOverflow="overflow" vert="horz" wrap="square" lIns="38100" tIns="19050" rIns="38100" bIns="19050" anchor="ctr" anchorCtr="1">
                  <a:norm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spPr xmlns:c15="http://schemas.microsoft.com/office/drawing/2012/chart">
                    <a:prstGeom prst="wedgeRectCallout">
                      <a:avLst>
                        <a:gd name="adj1" fmla="val -8944"/>
                        <a:gd name="adj2" fmla="val -330401"/>
                      </a:avLst>
                    </a:prstGeom>
                    <a:noFill/>
                    <a:ln>
                      <a:noFill/>
                    </a:ln>
                  </c15:spPr>
                  <c15:layout>
                    <c:manualLayout>
                      <c:w val="0.181008311461067"/>
                      <c:h val="6.9193889327834296E-2"/>
                    </c:manualLayout>
                  </c15:layout>
                </c:ext>
                <c:ext xmlns:c16="http://schemas.microsoft.com/office/drawing/2014/chart" uri="{C3380CC4-5D6E-409C-BE32-E72D297353CC}">
                  <c16:uniqueId val="{00000001-3986-CB49-93F9-F0F1D272BFF4}"/>
                </c:ext>
              </c:extLst>
            </c:dLbl>
            <c:dLbl>
              <c:idx val="1"/>
              <c:delete val="1"/>
              <c:extLst>
                <c:ext xmlns:c15="http://schemas.microsoft.com/office/drawing/2012/chart" uri="{CE6537A1-D6FC-4f65-9D91-7224C49458BB}">
                  <c15:layout>
                    <c:manualLayout>
                      <c:w val="0.12237922705314"/>
                      <c:h val="1.15787373906601E-2"/>
                    </c:manualLayout>
                  </c15:layout>
                </c:ext>
                <c:ext xmlns:c16="http://schemas.microsoft.com/office/drawing/2014/chart" uri="{C3380CC4-5D6E-409C-BE32-E72D297353CC}">
                  <c16:uniqueId val="{00000003-3986-CB49-93F9-F0F1D272BFF4}"/>
                </c:ext>
              </c:extLst>
            </c:dLbl>
            <c:dLbl>
              <c:idx val="2"/>
              <c:delete val="1"/>
              <c:extLst>
                <c:ext xmlns:c15="http://schemas.microsoft.com/office/drawing/2012/chart" uri="{CE6537A1-D6FC-4f65-9D91-7224C49458BB}"/>
                <c:ext xmlns:c16="http://schemas.microsoft.com/office/drawing/2014/chart" uri="{C3380CC4-5D6E-409C-BE32-E72D297353CC}">
                  <c16:uniqueId val="{00000005-3986-CB49-93F9-F0F1D272BFF4}"/>
                </c:ext>
              </c:extLst>
            </c:dLbl>
            <c:spPr>
              <a:solidFill>
                <a:prstClr val="white"/>
              </a:solidFill>
              <a:ln>
                <a:noFill/>
              </a:ln>
              <a:effectLst/>
            </c:spPr>
            <c:txPr>
              <a:bodyPr rot="0" spcFirstLastPara="1" vertOverflow="overflow" horzOverflow="overflow" vert="horz" wrap="square" lIns="38100" tIns="19050" rIns="38100" bIns="19050" anchor="ctr" anchorCtr="1">
                <a:spAutoFit/>
              </a:bodyPr>
              <a:lstStyle/>
              <a:p>
                <a:pPr>
                  <a:defRPr sz="1400" b="1" i="0" u="none" strike="noStrike" kern="1200" baseline="0">
                    <a:solidFill>
                      <a:schemeClr val="dk1">
                        <a:lumMod val="65000"/>
                        <a:lumOff val="35000"/>
                      </a:schemeClr>
                    </a:solidFill>
                    <a:latin typeface="Arial Black" panose="020B0A04020102020204" pitchFamily="34" charset="0"/>
                    <a:ea typeface="+mn-ea"/>
                    <a:cs typeface="+mn-cs"/>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3"/>
                <c:pt idx="0">
                  <c:v>Harmony</c:v>
                </c:pt>
                <c:pt idx="1">
                  <c:v>Suppression</c:v>
                </c:pt>
                <c:pt idx="2">
                  <c:v>Passion </c:v>
                </c:pt>
              </c:strCache>
            </c:strRef>
          </c:cat>
          <c:val>
            <c:numRef>
              <c:f>Sheet1!$B$2:$B$5</c:f>
              <c:numCache>
                <c:formatCode>General</c:formatCode>
                <c:ptCount val="4"/>
                <c:pt idx="0">
                  <c:v>33</c:v>
                </c:pt>
                <c:pt idx="1">
                  <c:v>33</c:v>
                </c:pt>
                <c:pt idx="2">
                  <c:v>33</c:v>
                </c:pt>
              </c:numCache>
            </c:numRef>
          </c:val>
          <c:extLst>
            <c:ext xmlns:c16="http://schemas.microsoft.com/office/drawing/2014/chart" uri="{C3380CC4-5D6E-409C-BE32-E72D297353CC}">
              <c16:uniqueId val="{00000008-3986-CB49-93F9-F0F1D272BFF4}"/>
            </c:ext>
          </c:extLst>
        </c:ser>
        <c:dLbls>
          <c:dLblPos val="bestFit"/>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4">
  <cs:axisTitle>
    <cs:lnRef idx="0"/>
    <cs:fillRef idx="0"/>
    <cs:effectRef idx="0"/>
    <cs:fontRef idx="minor">
      <a:schemeClr val="tx1">
        <a:lumMod val="50000"/>
        <a:lumOff val="50000"/>
      </a:schemeClr>
    </cs:fontRef>
    <cs:defRPr sz="1197"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fillRef idx="2">
      <cs:styleClr val="auto"/>
    </cs:fillRef>
    <cs:effectRef idx="1"/>
    <cs:fontRef idx="minor">
      <a:schemeClr val="dk1"/>
    </cs:fontRef>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862"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0.18233</cdr:x>
      <cdr:y>0.16908</cdr:y>
    </cdr:from>
    <cdr:to>
      <cdr:x>0.3913</cdr:x>
      <cdr:y>0.27335</cdr:y>
    </cdr:to>
    <cdr:sp macro="" textlink="">
      <cdr:nvSpPr>
        <cdr:cNvPr id="2" name="TextBox 1"/>
        <cdr:cNvSpPr txBox="1"/>
      </cdr:nvSpPr>
      <cdr:spPr>
        <a:xfrm xmlns:a="http://schemas.openxmlformats.org/drawingml/2006/main">
          <a:off x="1917357" y="735724"/>
          <a:ext cx="2197397" cy="4537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800" b="1" dirty="0"/>
            <a:t>Excitement (Raja)</a:t>
          </a:r>
        </a:p>
      </cdr:txBody>
    </cdr:sp>
  </cdr:relSizeAnchor>
</c:userShapes>
</file>

<file path=ppt/drawings/drawing2.xml><?xml version="1.0" encoding="utf-8"?>
<c:userShapes xmlns:c="http://schemas.openxmlformats.org/drawingml/2006/chart">
  <cdr:relSizeAnchor xmlns:cdr="http://schemas.openxmlformats.org/drawingml/2006/chartDrawing">
    <cdr:from>
      <cdr:x>0.26329</cdr:x>
      <cdr:y>0.16908</cdr:y>
    </cdr:from>
    <cdr:to>
      <cdr:x>0.3913</cdr:x>
      <cdr:y>0.49159</cdr:y>
    </cdr:to>
    <cdr:sp macro="" textlink="">
      <cdr:nvSpPr>
        <cdr:cNvPr id="2" name="TextBox 1"/>
        <cdr:cNvSpPr txBox="1"/>
      </cdr:nvSpPr>
      <cdr:spPr>
        <a:xfrm xmlns:a="http://schemas.openxmlformats.org/drawingml/2006/main">
          <a:off x="2768600" y="685800"/>
          <a:ext cx="1346200" cy="13081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800" b="1" dirty="0"/>
            <a:t>Excitement</a:t>
          </a:r>
        </a:p>
      </cdr:txBody>
    </cdr:sp>
  </cdr:relSizeAnchor>
  <cdr:relSizeAnchor xmlns:cdr="http://schemas.openxmlformats.org/drawingml/2006/chartDrawing">
    <cdr:from>
      <cdr:x>0.52354</cdr:x>
      <cdr:y>0.25458</cdr:y>
    </cdr:from>
    <cdr:to>
      <cdr:x>0.61964</cdr:x>
      <cdr:y>0.46371</cdr:y>
    </cdr:to>
    <cdr:sp macro="" textlink="">
      <cdr:nvSpPr>
        <cdr:cNvPr id="5" name="Oval 4">
          <a:extLst xmlns:a="http://schemas.openxmlformats.org/drawingml/2006/main">
            <a:ext uri="{FF2B5EF4-FFF2-40B4-BE49-F238E27FC236}">
              <a16:creationId xmlns:a16="http://schemas.microsoft.com/office/drawing/2014/main" id="{1F3B174D-1B28-FD4A-B4C2-0396579CB880}"/>
            </a:ext>
          </a:extLst>
        </cdr:cNvPr>
        <cdr:cNvSpPr/>
      </cdr:nvSpPr>
      <cdr:spPr>
        <a:xfrm xmlns:a="http://schemas.openxmlformats.org/drawingml/2006/main" rot="1312033">
          <a:off x="5505301" y="1107778"/>
          <a:ext cx="1010565" cy="909981"/>
        </a:xfrm>
        <a:prstGeom xmlns:a="http://schemas.openxmlformats.org/drawingml/2006/main" prst="ellipse">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FR"/>
        </a:p>
      </cdr:txBody>
    </cdr:sp>
  </cdr:relSizeAnchor>
  <cdr:relSizeAnchor xmlns:cdr="http://schemas.openxmlformats.org/drawingml/2006/chartDrawing">
    <cdr:from>
      <cdr:x>0.69079</cdr:x>
      <cdr:y>0.32525</cdr:y>
    </cdr:from>
    <cdr:to>
      <cdr:x>1</cdr:x>
      <cdr:y>1</cdr:y>
    </cdr:to>
    <cdr:sp macro="" textlink="">
      <cdr:nvSpPr>
        <cdr:cNvPr id="3" name="TextBox 2">
          <a:extLst xmlns:a="http://schemas.openxmlformats.org/drawingml/2006/main">
            <a:ext uri="{FF2B5EF4-FFF2-40B4-BE49-F238E27FC236}">
              <a16:creationId xmlns:a16="http://schemas.microsoft.com/office/drawing/2014/main" id="{A0CD3175-B312-6809-35B0-98D9543016F9}"/>
            </a:ext>
          </a:extLst>
        </cdr:cNvPr>
        <cdr:cNvSpPr txBox="1"/>
      </cdr:nvSpPr>
      <cdr:spPr>
        <a:xfrm xmlns:a="http://schemas.openxmlformats.org/drawingml/2006/main">
          <a:off x="7264078" y="1415287"/>
          <a:ext cx="3251522" cy="293605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600" kern="1200" dirty="0"/>
            <a:t>How does wishing work in practice? </a:t>
          </a:r>
        </a:p>
        <a:p xmlns:a="http://schemas.openxmlformats.org/drawingml/2006/main">
          <a:r>
            <a:rPr lang="en-US" sz="1600" kern="1200" dirty="0"/>
            <a:t>What does the size of the wish spot suggest?</a:t>
          </a:r>
        </a:p>
        <a:p xmlns:a="http://schemas.openxmlformats.org/drawingml/2006/main">
          <a:r>
            <a:rPr lang="en-US" sz="1600" kern="1200" dirty="0"/>
            <a:t>What does it mean for it to be close to the circumference of the circle?</a:t>
          </a:r>
        </a:p>
        <a:p xmlns:a="http://schemas.openxmlformats.org/drawingml/2006/main">
          <a:endParaRPr lang="en-US" sz="1600" kern="1200" dirty="0"/>
        </a:p>
        <a:p xmlns:a="http://schemas.openxmlformats.org/drawingml/2006/main">
          <a:r>
            <a:rPr lang="en-US" sz="1600" kern="1200" dirty="0"/>
            <a:t>What does it mean for it to be around the center of the circle?</a:t>
          </a:r>
        </a:p>
        <a:p xmlns:a="http://schemas.openxmlformats.org/drawingml/2006/main">
          <a:r>
            <a:rPr lang="en-US" sz="1600" kern="1200" dirty="0"/>
            <a:t>Could there be several separate wish spots?  </a:t>
          </a:r>
        </a:p>
      </cdr:txBody>
    </cdr:sp>
  </cdr:relSizeAnchor>
</c:userShapes>
</file>

<file path=ppt/drawings/drawing3.xml><?xml version="1.0" encoding="utf-8"?>
<c:userShapes xmlns:c="http://schemas.openxmlformats.org/drawingml/2006/chart">
  <cdr:relSizeAnchor xmlns:cdr="http://schemas.openxmlformats.org/drawingml/2006/chartDrawing">
    <cdr:from>
      <cdr:x>0.5</cdr:x>
      <cdr:y>0.5</cdr:y>
    </cdr:from>
    <cdr:to>
      <cdr:x>0.55192</cdr:x>
      <cdr:y>0.52809</cdr:y>
    </cdr:to>
    <cdr:cxnSp macro="">
      <cdr:nvCxnSpPr>
        <cdr:cNvPr id="4" name="Straight Arrow Connector 3">
          <a:extLst xmlns:a="http://schemas.openxmlformats.org/drawingml/2006/main">
            <a:ext uri="{FF2B5EF4-FFF2-40B4-BE49-F238E27FC236}">
              <a16:creationId xmlns:a16="http://schemas.microsoft.com/office/drawing/2014/main" id="{5CDBD0A2-A7D5-B64C-A1A6-1FE9020F3A74}"/>
            </a:ext>
          </a:extLst>
        </cdr:cNvPr>
        <cdr:cNvCxnSpPr/>
      </cdr:nvCxnSpPr>
      <cdr:spPr>
        <a:xfrm xmlns:a="http://schemas.openxmlformats.org/drawingml/2006/main">
          <a:off x="5257800" y="2028032"/>
          <a:ext cx="546012" cy="113950"/>
        </a:xfrm>
        <a:prstGeom xmlns:a="http://schemas.openxmlformats.org/drawingml/2006/main" prst="straightConnector1">
          <a:avLst/>
        </a:prstGeom>
        <a:ln xmlns:a="http://schemas.openxmlformats.org/drawingml/2006/main" w="19050" cap="flat" cmpd="sng" algn="ctr">
          <a:solidFill>
            <a:schemeClr val="dk1"/>
          </a:solidFill>
          <a:prstDash val="solid"/>
          <a:round/>
          <a:headEnd type="none"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0.26329</cdr:x>
      <cdr:y>0.16908</cdr:y>
    </cdr:from>
    <cdr:to>
      <cdr:x>0.3913</cdr:x>
      <cdr:y>0.49159</cdr:y>
    </cdr:to>
    <cdr:sp macro="" textlink="">
      <cdr:nvSpPr>
        <cdr:cNvPr id="2" name="TextBox 1"/>
        <cdr:cNvSpPr txBox="1"/>
      </cdr:nvSpPr>
      <cdr:spPr>
        <a:xfrm xmlns:a="http://schemas.openxmlformats.org/drawingml/2006/main">
          <a:off x="2768600" y="685800"/>
          <a:ext cx="1346200" cy="13081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800" b="1" dirty="0"/>
            <a:t>Excitement</a:t>
          </a:r>
        </a:p>
      </cdr:txBody>
    </cdr:sp>
  </cdr:relSizeAnchor>
  <cdr:relSizeAnchor xmlns:cdr="http://schemas.openxmlformats.org/drawingml/2006/chartDrawing">
    <cdr:from>
      <cdr:x>0.48101</cdr:x>
      <cdr:y>0.77456</cdr:y>
    </cdr:from>
    <cdr:to>
      <cdr:x>0.56797</cdr:x>
      <cdr:y>1</cdr:y>
    </cdr:to>
    <cdr:sp macro="" textlink="">
      <cdr:nvSpPr>
        <cdr:cNvPr id="5" name="TextBox 4">
          <a:extLst xmlns:a="http://schemas.openxmlformats.org/drawingml/2006/main">
            <a:ext uri="{FF2B5EF4-FFF2-40B4-BE49-F238E27FC236}">
              <a16:creationId xmlns:a16="http://schemas.microsoft.com/office/drawing/2014/main" id="{879FFA8D-66B7-0249-98BC-51C4F545E274}"/>
            </a:ext>
          </a:extLst>
        </cdr:cNvPr>
        <cdr:cNvSpPr txBox="1"/>
      </cdr:nvSpPr>
      <cdr:spPr>
        <a:xfrm xmlns:a="http://schemas.openxmlformats.org/drawingml/2006/main">
          <a:off x="5058103" y="3523155"/>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fr-FR" sz="1100" dirty="0"/>
        </a:p>
      </cdr:txBody>
    </cdr:sp>
  </cdr:relSizeAnchor>
  <cdr:relSizeAnchor xmlns:cdr="http://schemas.openxmlformats.org/drawingml/2006/chartDrawing">
    <cdr:from>
      <cdr:x>0.41204</cdr:x>
      <cdr:y>0.9308</cdr:y>
    </cdr:from>
    <cdr:to>
      <cdr:x>0.59345</cdr:x>
      <cdr:y>1</cdr:y>
    </cdr:to>
    <cdr:sp macro="" textlink="">
      <cdr:nvSpPr>
        <cdr:cNvPr id="6" name="TextBox 5">
          <a:extLst xmlns:a="http://schemas.openxmlformats.org/drawingml/2006/main">
            <a:ext uri="{FF2B5EF4-FFF2-40B4-BE49-F238E27FC236}">
              <a16:creationId xmlns:a16="http://schemas.microsoft.com/office/drawing/2014/main" id="{13799BB8-9309-274F-9325-E2CEEC0A4DBA}"/>
            </a:ext>
          </a:extLst>
        </cdr:cNvPr>
        <cdr:cNvSpPr txBox="1"/>
      </cdr:nvSpPr>
      <cdr:spPr>
        <a:xfrm xmlns:a="http://schemas.openxmlformats.org/drawingml/2006/main">
          <a:off x="4332890" y="3775403"/>
          <a:ext cx="1907627" cy="28066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fr-FR" sz="1400" b="1" dirty="0"/>
            <a:t>Discipline</a:t>
          </a:r>
        </a:p>
      </cdr:txBody>
    </cdr:sp>
  </cdr:relSizeAnchor>
  <cdr:relSizeAnchor xmlns:cdr="http://schemas.openxmlformats.org/drawingml/2006/chartDrawing">
    <cdr:from>
      <cdr:x>0.52314</cdr:x>
      <cdr:y>0.26745</cdr:y>
    </cdr:from>
    <cdr:to>
      <cdr:x>0.6222</cdr:x>
      <cdr:y>0.49574</cdr:y>
    </cdr:to>
    <cdr:sp macro="" textlink="">
      <cdr:nvSpPr>
        <cdr:cNvPr id="3" name="Oval 2">
          <a:extLst xmlns:a="http://schemas.openxmlformats.org/drawingml/2006/main">
            <a:ext uri="{FF2B5EF4-FFF2-40B4-BE49-F238E27FC236}">
              <a16:creationId xmlns:a16="http://schemas.microsoft.com/office/drawing/2014/main" id="{B4999DB0-FA9A-B187-B23D-7E497836B269}"/>
            </a:ext>
          </a:extLst>
        </cdr:cNvPr>
        <cdr:cNvSpPr/>
      </cdr:nvSpPr>
      <cdr:spPr>
        <a:xfrm xmlns:a="http://schemas.openxmlformats.org/drawingml/2006/main">
          <a:off x="5501135" y="1084779"/>
          <a:ext cx="1041722" cy="925975"/>
        </a:xfrm>
        <a:prstGeom xmlns:a="http://schemas.openxmlformats.org/drawingml/2006/main" prst="ellipse">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drawings/drawing4.xml><?xml version="1.0" encoding="utf-8"?>
<c:userShapes xmlns:c="http://schemas.openxmlformats.org/drawingml/2006/chart">
  <cdr:relSizeAnchor xmlns:cdr="http://schemas.openxmlformats.org/drawingml/2006/chartDrawing">
    <cdr:from>
      <cdr:x>0.5</cdr:x>
      <cdr:y>0.46231</cdr:y>
    </cdr:from>
    <cdr:to>
      <cdr:x>0.53765</cdr:x>
      <cdr:y>0.5</cdr:y>
    </cdr:to>
    <cdr:cxnSp macro="">
      <cdr:nvCxnSpPr>
        <cdr:cNvPr id="4" name="Straight Arrow Connector 3">
          <a:extLst xmlns:a="http://schemas.openxmlformats.org/drawingml/2006/main">
            <a:ext uri="{FF2B5EF4-FFF2-40B4-BE49-F238E27FC236}">
              <a16:creationId xmlns:a16="http://schemas.microsoft.com/office/drawing/2014/main" id="{5CDBD0A2-A7D5-B64C-A1A6-1FE9020F3A74}"/>
            </a:ext>
          </a:extLst>
        </cdr:cNvPr>
        <cdr:cNvCxnSpPr>
          <a:endCxn xmlns:a="http://schemas.openxmlformats.org/drawingml/2006/main" id="3" idx="3"/>
        </cdr:cNvCxnSpPr>
      </cdr:nvCxnSpPr>
      <cdr:spPr>
        <a:xfrm xmlns:a="http://schemas.openxmlformats.org/drawingml/2006/main" flipV="1">
          <a:off x="5257800" y="1875149"/>
          <a:ext cx="395881" cy="152883"/>
        </a:xfrm>
        <a:prstGeom xmlns:a="http://schemas.openxmlformats.org/drawingml/2006/main" prst="straightConnector1">
          <a:avLst/>
        </a:prstGeom>
        <a:ln xmlns:a="http://schemas.openxmlformats.org/drawingml/2006/main" w="19050" cap="flat" cmpd="sng" algn="ctr">
          <a:solidFill>
            <a:schemeClr val="dk1"/>
          </a:solidFill>
          <a:prstDash val="solid"/>
          <a:round/>
          <a:headEnd type="none"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0.26329</cdr:x>
      <cdr:y>0.16908</cdr:y>
    </cdr:from>
    <cdr:to>
      <cdr:x>0.3913</cdr:x>
      <cdr:y>0.49159</cdr:y>
    </cdr:to>
    <cdr:sp macro="" textlink="">
      <cdr:nvSpPr>
        <cdr:cNvPr id="2" name="TextBox 1"/>
        <cdr:cNvSpPr txBox="1"/>
      </cdr:nvSpPr>
      <cdr:spPr>
        <a:xfrm xmlns:a="http://schemas.openxmlformats.org/drawingml/2006/main">
          <a:off x="2768600" y="685800"/>
          <a:ext cx="1346200" cy="13081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800" b="1" dirty="0"/>
            <a:t>Excitement</a:t>
          </a:r>
        </a:p>
      </cdr:txBody>
    </cdr:sp>
  </cdr:relSizeAnchor>
  <cdr:relSizeAnchor xmlns:cdr="http://schemas.openxmlformats.org/drawingml/2006/chartDrawing">
    <cdr:from>
      <cdr:x>0.48101</cdr:x>
      <cdr:y>0.77456</cdr:y>
    </cdr:from>
    <cdr:to>
      <cdr:x>0.56797</cdr:x>
      <cdr:y>1</cdr:y>
    </cdr:to>
    <cdr:sp macro="" textlink="">
      <cdr:nvSpPr>
        <cdr:cNvPr id="5" name="TextBox 4">
          <a:extLst xmlns:a="http://schemas.openxmlformats.org/drawingml/2006/main">
            <a:ext uri="{FF2B5EF4-FFF2-40B4-BE49-F238E27FC236}">
              <a16:creationId xmlns:a16="http://schemas.microsoft.com/office/drawing/2014/main" id="{879FFA8D-66B7-0249-98BC-51C4F545E274}"/>
            </a:ext>
          </a:extLst>
        </cdr:cNvPr>
        <cdr:cNvSpPr txBox="1"/>
      </cdr:nvSpPr>
      <cdr:spPr>
        <a:xfrm xmlns:a="http://schemas.openxmlformats.org/drawingml/2006/main">
          <a:off x="5058103" y="3523155"/>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fr-FR" sz="1100" dirty="0"/>
        </a:p>
      </cdr:txBody>
    </cdr:sp>
  </cdr:relSizeAnchor>
  <cdr:relSizeAnchor xmlns:cdr="http://schemas.openxmlformats.org/drawingml/2006/chartDrawing">
    <cdr:from>
      <cdr:x>0.41204</cdr:x>
      <cdr:y>0.9308</cdr:y>
    </cdr:from>
    <cdr:to>
      <cdr:x>0.59345</cdr:x>
      <cdr:y>1</cdr:y>
    </cdr:to>
    <cdr:sp macro="" textlink="">
      <cdr:nvSpPr>
        <cdr:cNvPr id="6" name="TextBox 5">
          <a:extLst xmlns:a="http://schemas.openxmlformats.org/drawingml/2006/main">
            <a:ext uri="{FF2B5EF4-FFF2-40B4-BE49-F238E27FC236}">
              <a16:creationId xmlns:a16="http://schemas.microsoft.com/office/drawing/2014/main" id="{13799BB8-9309-274F-9325-E2CEEC0A4DBA}"/>
            </a:ext>
          </a:extLst>
        </cdr:cNvPr>
        <cdr:cNvSpPr txBox="1"/>
      </cdr:nvSpPr>
      <cdr:spPr>
        <a:xfrm xmlns:a="http://schemas.openxmlformats.org/drawingml/2006/main">
          <a:off x="4332890" y="3775403"/>
          <a:ext cx="1907627" cy="28066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fr-FR" sz="1400" b="1" dirty="0"/>
            <a:t>Discipline</a:t>
          </a:r>
        </a:p>
      </cdr:txBody>
    </cdr:sp>
  </cdr:relSizeAnchor>
  <cdr:relSizeAnchor xmlns:cdr="http://schemas.openxmlformats.org/drawingml/2006/chartDrawing">
    <cdr:from>
      <cdr:x>0.52314</cdr:x>
      <cdr:y>0.26745</cdr:y>
    </cdr:from>
    <cdr:to>
      <cdr:x>0.6222</cdr:x>
      <cdr:y>0.49574</cdr:y>
    </cdr:to>
    <cdr:sp macro="" textlink="">
      <cdr:nvSpPr>
        <cdr:cNvPr id="3" name="Oval 2">
          <a:extLst xmlns:a="http://schemas.openxmlformats.org/drawingml/2006/main">
            <a:ext uri="{FF2B5EF4-FFF2-40B4-BE49-F238E27FC236}">
              <a16:creationId xmlns:a16="http://schemas.microsoft.com/office/drawing/2014/main" id="{B4999DB0-FA9A-B187-B23D-7E497836B269}"/>
            </a:ext>
          </a:extLst>
        </cdr:cNvPr>
        <cdr:cNvSpPr/>
      </cdr:nvSpPr>
      <cdr:spPr>
        <a:xfrm xmlns:a="http://schemas.openxmlformats.org/drawingml/2006/main">
          <a:off x="5501135" y="1084779"/>
          <a:ext cx="1041722" cy="925975"/>
        </a:xfrm>
        <a:prstGeom xmlns:a="http://schemas.openxmlformats.org/drawingml/2006/main" prst="ellipse">
          <a:avLst/>
        </a:prstGeom>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drawings/drawing5.xml><?xml version="1.0" encoding="utf-8"?>
<c:userShapes xmlns:c="http://schemas.openxmlformats.org/drawingml/2006/chart">
  <cdr:relSizeAnchor xmlns:cdr="http://schemas.openxmlformats.org/drawingml/2006/chartDrawing">
    <cdr:from>
      <cdr:x>0.5</cdr:x>
      <cdr:y>0.5</cdr:y>
    </cdr:from>
    <cdr:to>
      <cdr:x>0.55192</cdr:x>
      <cdr:y>0.52809</cdr:y>
    </cdr:to>
    <cdr:cxnSp macro="">
      <cdr:nvCxnSpPr>
        <cdr:cNvPr id="4" name="Straight Arrow Connector 3">
          <a:extLst xmlns:a="http://schemas.openxmlformats.org/drawingml/2006/main">
            <a:ext uri="{FF2B5EF4-FFF2-40B4-BE49-F238E27FC236}">
              <a16:creationId xmlns:a16="http://schemas.microsoft.com/office/drawing/2014/main" id="{5CDBD0A2-A7D5-B64C-A1A6-1FE9020F3A74}"/>
            </a:ext>
          </a:extLst>
        </cdr:cNvPr>
        <cdr:cNvCxnSpPr/>
      </cdr:nvCxnSpPr>
      <cdr:spPr>
        <a:xfrm xmlns:a="http://schemas.openxmlformats.org/drawingml/2006/main">
          <a:off x="5257800" y="2028032"/>
          <a:ext cx="546012" cy="113950"/>
        </a:xfrm>
        <a:prstGeom xmlns:a="http://schemas.openxmlformats.org/drawingml/2006/main" prst="straightConnector1">
          <a:avLst/>
        </a:prstGeom>
        <a:ln xmlns:a="http://schemas.openxmlformats.org/drawingml/2006/main" w="19050" cap="flat" cmpd="sng" algn="ctr">
          <a:solidFill>
            <a:schemeClr val="dk1"/>
          </a:solidFill>
          <a:prstDash val="solid"/>
          <a:round/>
          <a:headEnd type="none" w="med" len="med"/>
          <a:tailEnd type="arrow" w="med" len="med"/>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cxnSp>
  </cdr:relSizeAnchor>
  <cdr:relSizeAnchor xmlns:cdr="http://schemas.openxmlformats.org/drawingml/2006/chartDrawing">
    <cdr:from>
      <cdr:x>0.26329</cdr:x>
      <cdr:y>0.16908</cdr:y>
    </cdr:from>
    <cdr:to>
      <cdr:x>0.3913</cdr:x>
      <cdr:y>0.49159</cdr:y>
    </cdr:to>
    <cdr:sp macro="" textlink="">
      <cdr:nvSpPr>
        <cdr:cNvPr id="2" name="TextBox 1"/>
        <cdr:cNvSpPr txBox="1"/>
      </cdr:nvSpPr>
      <cdr:spPr>
        <a:xfrm xmlns:a="http://schemas.openxmlformats.org/drawingml/2006/main">
          <a:off x="2768600" y="685800"/>
          <a:ext cx="1346200" cy="13081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US" sz="1800" b="1" dirty="0"/>
            <a:t>Excitement</a:t>
          </a:r>
        </a:p>
      </cdr:txBody>
    </cdr:sp>
  </cdr:relSizeAnchor>
  <cdr:relSizeAnchor xmlns:cdr="http://schemas.openxmlformats.org/drawingml/2006/chartDrawing">
    <cdr:from>
      <cdr:x>0.48101</cdr:x>
      <cdr:y>0.77456</cdr:y>
    </cdr:from>
    <cdr:to>
      <cdr:x>0.56797</cdr:x>
      <cdr:y>1</cdr:y>
    </cdr:to>
    <cdr:sp macro="" textlink="">
      <cdr:nvSpPr>
        <cdr:cNvPr id="5" name="TextBox 4">
          <a:extLst xmlns:a="http://schemas.openxmlformats.org/drawingml/2006/main">
            <a:ext uri="{FF2B5EF4-FFF2-40B4-BE49-F238E27FC236}">
              <a16:creationId xmlns:a16="http://schemas.microsoft.com/office/drawing/2014/main" id="{879FFA8D-66B7-0249-98BC-51C4F545E274}"/>
            </a:ext>
          </a:extLst>
        </cdr:cNvPr>
        <cdr:cNvSpPr txBox="1"/>
      </cdr:nvSpPr>
      <cdr:spPr>
        <a:xfrm xmlns:a="http://schemas.openxmlformats.org/drawingml/2006/main">
          <a:off x="5058103" y="3523155"/>
          <a:ext cx="914400" cy="91440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fr-FR" sz="1100" dirty="0"/>
        </a:p>
      </cdr:txBody>
    </cdr:sp>
  </cdr:relSizeAnchor>
  <cdr:relSizeAnchor xmlns:cdr="http://schemas.openxmlformats.org/drawingml/2006/chartDrawing">
    <cdr:from>
      <cdr:x>0.41204</cdr:x>
      <cdr:y>0.9308</cdr:y>
    </cdr:from>
    <cdr:to>
      <cdr:x>0.59345</cdr:x>
      <cdr:y>1</cdr:y>
    </cdr:to>
    <cdr:sp macro="" textlink="">
      <cdr:nvSpPr>
        <cdr:cNvPr id="6" name="TextBox 5">
          <a:extLst xmlns:a="http://schemas.openxmlformats.org/drawingml/2006/main">
            <a:ext uri="{FF2B5EF4-FFF2-40B4-BE49-F238E27FC236}">
              <a16:creationId xmlns:a16="http://schemas.microsoft.com/office/drawing/2014/main" id="{13799BB8-9309-274F-9325-E2CEEC0A4DBA}"/>
            </a:ext>
          </a:extLst>
        </cdr:cNvPr>
        <cdr:cNvSpPr txBox="1"/>
      </cdr:nvSpPr>
      <cdr:spPr>
        <a:xfrm xmlns:a="http://schemas.openxmlformats.org/drawingml/2006/main">
          <a:off x="4332890" y="3775403"/>
          <a:ext cx="1907627" cy="28066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fr-FR" sz="1400" b="1" dirty="0"/>
            <a:t>Discipline</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08D3BF-71BF-6E44-8D18-45B4F14A8274}" type="datetimeFigureOut">
              <a:rPr lang="en-US" smtClean="0"/>
              <a:t>10/4/26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9E2F09-7BE6-514E-BA73-3B12E273C735}" type="slidenum">
              <a:rPr lang="en-US" smtClean="0"/>
              <a:t>‹#›</a:t>
            </a:fld>
            <a:endParaRPr lang="en-US"/>
          </a:p>
        </p:txBody>
      </p:sp>
    </p:spTree>
    <p:extLst>
      <p:ext uri="{BB962C8B-B14F-4D97-AF65-F5344CB8AC3E}">
        <p14:creationId xmlns:p14="http://schemas.microsoft.com/office/powerpoint/2010/main" val="251471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“Institution”.</a:t>
            </a:r>
          </a:p>
          <a:p>
            <a:r>
              <a:rPr lang="en-US" dirty="0"/>
              <a:t>Explain the qualities.</a:t>
            </a:r>
          </a:p>
        </p:txBody>
      </p:sp>
      <p:sp>
        <p:nvSpPr>
          <p:cNvPr id="4" name="Slide Number Placeholder 3"/>
          <p:cNvSpPr>
            <a:spLocks noGrp="1"/>
          </p:cNvSpPr>
          <p:nvPr>
            <p:ph type="sldNum" sz="quarter" idx="10"/>
          </p:nvPr>
        </p:nvSpPr>
        <p:spPr/>
        <p:txBody>
          <a:bodyPr/>
          <a:lstStyle/>
          <a:p>
            <a:fld id="{599E2F09-7BE6-514E-BA73-3B12E273C735}" type="slidenum">
              <a:rPr lang="en-US" smtClean="0"/>
              <a:t>8</a:t>
            </a:fld>
            <a:endParaRPr lang="en-US"/>
          </a:p>
        </p:txBody>
      </p:sp>
    </p:spTree>
    <p:extLst>
      <p:ext uri="{BB962C8B-B14F-4D97-AF65-F5344CB8AC3E}">
        <p14:creationId xmlns:p14="http://schemas.microsoft.com/office/powerpoint/2010/main" val="805706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D2B7A-B130-D843-8322-9386BB53B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C5022-B0FA-6840-DE19-0BEFE6333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C86C08-FCE1-6515-4D5E-8F74B4E3301B}"/>
              </a:ext>
            </a:extLst>
          </p:cNvPr>
          <p:cNvSpPr>
            <a:spLocks noGrp="1"/>
          </p:cNvSpPr>
          <p:nvPr>
            <p:ph type="body" idx="1"/>
          </p:nvPr>
        </p:nvSpPr>
        <p:spPr/>
        <p:txBody>
          <a:bodyPr/>
          <a:lstStyle/>
          <a:p>
            <a:r>
              <a:rPr lang="en-US" dirty="0"/>
              <a:t>Explain “Institution”.</a:t>
            </a:r>
          </a:p>
          <a:p>
            <a:r>
              <a:rPr lang="en-US" dirty="0"/>
              <a:t>Explain the qualities.</a:t>
            </a:r>
          </a:p>
        </p:txBody>
      </p:sp>
      <p:sp>
        <p:nvSpPr>
          <p:cNvPr id="4" name="Slide Number Placeholder 3">
            <a:extLst>
              <a:ext uri="{FF2B5EF4-FFF2-40B4-BE49-F238E27FC236}">
                <a16:creationId xmlns:a16="http://schemas.microsoft.com/office/drawing/2014/main" id="{4D1D90D5-1D4F-7B97-8705-A171894EB6BD}"/>
              </a:ext>
            </a:extLst>
          </p:cNvPr>
          <p:cNvSpPr>
            <a:spLocks noGrp="1"/>
          </p:cNvSpPr>
          <p:nvPr>
            <p:ph type="sldNum" sz="quarter" idx="10"/>
          </p:nvPr>
        </p:nvSpPr>
        <p:spPr/>
        <p:txBody>
          <a:bodyPr/>
          <a:lstStyle/>
          <a:p>
            <a:fld id="{599E2F09-7BE6-514E-BA73-3B12E273C735}" type="slidenum">
              <a:rPr lang="en-US" smtClean="0"/>
              <a:t>11</a:t>
            </a:fld>
            <a:endParaRPr lang="en-US"/>
          </a:p>
        </p:txBody>
      </p:sp>
    </p:spTree>
    <p:extLst>
      <p:ext uri="{BB962C8B-B14F-4D97-AF65-F5344CB8AC3E}">
        <p14:creationId xmlns:p14="http://schemas.microsoft.com/office/powerpoint/2010/main" val="2289774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E96C892-5FF8-8C4F-8AD2-C5CE90EF2AFF}" type="datetime1">
              <a:rPr lang="fr-FR" smtClean="0"/>
              <a:t>04/10/2026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918938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088848-DA7F-B244-B18A-3670F8443819}" type="datetime1">
              <a:rPr lang="fr-FR" smtClean="0"/>
              <a:t>04/10/2026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761243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506668-AF95-464E-9C20-CF94A91DEDE2}" type="datetime1">
              <a:rPr lang="fr-FR" smtClean="0"/>
              <a:t>04/10/2026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1651772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13ABC8-67A7-0D45-9709-879C3CF25A90}" type="datetime1">
              <a:rPr lang="fr-FR" smtClean="0"/>
              <a:t>04/10/2026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813184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3577A8-CBDF-9B40-8467-A8072E5A45CC}" type="datetime1">
              <a:rPr lang="fr-FR" smtClean="0"/>
              <a:t>04/10/2026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614079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FF21D71-435F-D443-AA7D-C1BC476CD68F}" type="datetime1">
              <a:rPr lang="fr-FR" smtClean="0"/>
              <a:t>04/10/2026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3233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A4B051-FDF6-DB48-9E04-4FB8114D7C87}" type="datetime1">
              <a:rPr lang="fr-FR" smtClean="0"/>
              <a:t>04/10/2026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180125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754B4F-DFA2-FC4F-ACCE-B1F1F68E3252}" type="datetime1">
              <a:rPr lang="fr-FR" smtClean="0"/>
              <a:t>04/10/2026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1570063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8FF2D1-70E7-934C-91B1-DC9BE62B06AA}" type="datetime1">
              <a:rPr lang="fr-FR" smtClean="0"/>
              <a:t>04/10/2026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1928379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584C03-B4ED-3547-A5CA-0835E9F70B56}" type="datetime1">
              <a:rPr lang="fr-FR" smtClean="0"/>
              <a:t>04/10/2026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455056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5FED20-60E8-2E45-AC70-AC9EED0BD07C}" type="datetime1">
              <a:rPr lang="fr-FR" smtClean="0"/>
              <a:t>04/10/2026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030A04-F7E4-3E4B-9633-650D11AB5897}" type="slidenum">
              <a:rPr lang="en-US" smtClean="0"/>
              <a:t>‹#›</a:t>
            </a:fld>
            <a:endParaRPr lang="en-US"/>
          </a:p>
        </p:txBody>
      </p:sp>
    </p:spTree>
    <p:extLst>
      <p:ext uri="{BB962C8B-B14F-4D97-AF65-F5344CB8AC3E}">
        <p14:creationId xmlns:p14="http://schemas.microsoft.com/office/powerpoint/2010/main" val="937630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EEE604-5C5F-474F-B384-C7993B7C407C}" type="datetime1">
              <a:rPr lang="fr-FR" smtClean="0"/>
              <a:t>04/10/2026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030A04-F7E4-3E4B-9633-650D11AB5897}" type="slidenum">
              <a:rPr lang="en-US" smtClean="0"/>
              <a:t>‹#›</a:t>
            </a:fld>
            <a:endParaRPr lang="en-US"/>
          </a:p>
        </p:txBody>
      </p:sp>
    </p:spTree>
    <p:extLst>
      <p:ext uri="{BB962C8B-B14F-4D97-AF65-F5344CB8AC3E}">
        <p14:creationId xmlns:p14="http://schemas.microsoft.com/office/powerpoint/2010/main" val="1710681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C1CE8-810D-AC49-A349-5DA7EF37D2D4}"/>
              </a:ext>
            </a:extLst>
          </p:cNvPr>
          <p:cNvSpPr>
            <a:spLocks noGrp="1"/>
          </p:cNvSpPr>
          <p:nvPr>
            <p:ph type="ctrTitle"/>
          </p:nvPr>
        </p:nvSpPr>
        <p:spPr/>
        <p:txBody>
          <a:bodyPr>
            <a:normAutofit/>
          </a:bodyPr>
          <a:lstStyle/>
          <a:p>
            <a:r>
              <a:rPr lang="en-FR" dirty="0">
                <a:solidFill>
                  <a:srgbClr val="C00000"/>
                </a:solidFill>
              </a:rPr>
              <a:t>The Institutional Compass</a:t>
            </a:r>
            <a:br>
              <a:rPr lang="en-FR"/>
            </a:br>
            <a:r>
              <a:rPr lang="en-US" dirty="0"/>
              <a:t>Environmental Data</a:t>
            </a:r>
            <a:endParaRPr lang="en-FR" dirty="0"/>
          </a:p>
        </p:txBody>
      </p:sp>
      <p:sp>
        <p:nvSpPr>
          <p:cNvPr id="3" name="Subtitle 2">
            <a:extLst>
              <a:ext uri="{FF2B5EF4-FFF2-40B4-BE49-F238E27FC236}">
                <a16:creationId xmlns:a16="http://schemas.microsoft.com/office/drawing/2014/main" id="{38234CA0-B92D-EF48-94C9-AB9BB12D3B7C}"/>
              </a:ext>
            </a:extLst>
          </p:cNvPr>
          <p:cNvSpPr>
            <a:spLocks noGrp="1"/>
          </p:cNvSpPr>
          <p:nvPr>
            <p:ph type="subTitle" idx="1"/>
          </p:nvPr>
        </p:nvSpPr>
        <p:spPr/>
        <p:txBody>
          <a:bodyPr>
            <a:normAutofit/>
          </a:bodyPr>
          <a:lstStyle/>
          <a:p>
            <a:endParaRPr lang="en-FR" sz="3200" dirty="0"/>
          </a:p>
        </p:txBody>
      </p:sp>
      <p:sp>
        <p:nvSpPr>
          <p:cNvPr id="4" name="Footer Placeholder 3">
            <a:extLst>
              <a:ext uri="{FF2B5EF4-FFF2-40B4-BE49-F238E27FC236}">
                <a16:creationId xmlns:a16="http://schemas.microsoft.com/office/drawing/2014/main" id="{2A9390E4-9718-F846-87DF-721E693E54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601096-C560-3942-9926-BE269DCEA4F2}"/>
              </a:ext>
            </a:extLst>
          </p:cNvPr>
          <p:cNvSpPr>
            <a:spLocks noGrp="1"/>
          </p:cNvSpPr>
          <p:nvPr>
            <p:ph type="sldNum" sz="quarter" idx="12"/>
          </p:nvPr>
        </p:nvSpPr>
        <p:spPr/>
        <p:txBody>
          <a:bodyPr/>
          <a:lstStyle/>
          <a:p>
            <a:fld id="{50030A04-F7E4-3E4B-9633-650D11AB5897}" type="slidenum">
              <a:rPr lang="en-US" smtClean="0"/>
              <a:t>1</a:t>
            </a:fld>
            <a:endParaRPr lang="en-US"/>
          </a:p>
        </p:txBody>
      </p:sp>
    </p:spTree>
    <p:extLst>
      <p:ext uri="{BB962C8B-B14F-4D97-AF65-F5344CB8AC3E}">
        <p14:creationId xmlns:p14="http://schemas.microsoft.com/office/powerpoint/2010/main" val="2511563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549F2-6FDD-882F-7CDC-310B03108994}"/>
              </a:ext>
            </a:extLst>
          </p:cNvPr>
          <p:cNvSpPr>
            <a:spLocks noGrp="1"/>
          </p:cNvSpPr>
          <p:nvPr>
            <p:ph type="title"/>
          </p:nvPr>
        </p:nvSpPr>
        <p:spPr/>
        <p:txBody>
          <a:bodyPr/>
          <a:lstStyle/>
          <a:p>
            <a:r>
              <a:rPr lang="en-US" dirty="0"/>
              <a:t>The Plan Today</a:t>
            </a:r>
          </a:p>
        </p:txBody>
      </p:sp>
      <p:sp>
        <p:nvSpPr>
          <p:cNvPr id="3" name="Content Placeholder 2">
            <a:extLst>
              <a:ext uri="{FF2B5EF4-FFF2-40B4-BE49-F238E27FC236}">
                <a16:creationId xmlns:a16="http://schemas.microsoft.com/office/drawing/2014/main" id="{FEA4852F-B5A5-BD13-47A1-FB756AA42CBE}"/>
              </a:ext>
            </a:extLst>
          </p:cNvPr>
          <p:cNvSpPr>
            <a:spLocks noGrp="1"/>
          </p:cNvSpPr>
          <p:nvPr>
            <p:ph idx="1"/>
          </p:nvPr>
        </p:nvSpPr>
        <p:spPr/>
        <p:txBody>
          <a:bodyPr/>
          <a:lstStyle/>
          <a:p>
            <a:pPr marL="514350" indent="-514350">
              <a:buAutoNum type="arabicPeriod"/>
            </a:pPr>
            <a:r>
              <a:rPr lang="en-US" dirty="0"/>
              <a:t>Choice of two regions to study as a class</a:t>
            </a:r>
          </a:p>
          <a:p>
            <a:pPr marL="514350" indent="-514350">
              <a:buAutoNum type="arabicPeriod"/>
            </a:pPr>
            <a:r>
              <a:rPr lang="en-US" dirty="0"/>
              <a:t>General remarks about the compass</a:t>
            </a:r>
          </a:p>
          <a:p>
            <a:pPr marL="514350" indent="-514350">
              <a:buAutoNum type="arabicPeriod"/>
            </a:pPr>
            <a:r>
              <a:rPr lang="en-US" dirty="0"/>
              <a:t>Wish spot on the compass</a:t>
            </a:r>
          </a:p>
          <a:p>
            <a:pPr marL="514350" indent="-514350">
              <a:buAutoNum type="arabicPeriod"/>
            </a:pPr>
            <a:r>
              <a:rPr lang="en-US" dirty="0"/>
              <a:t>Environmental data – what is it?</a:t>
            </a:r>
          </a:p>
          <a:p>
            <a:pPr marL="514350" indent="-514350">
              <a:buAutoNum type="arabicPeriod"/>
            </a:pPr>
            <a:r>
              <a:rPr lang="en-US" dirty="0"/>
              <a:t>Environmental data – how do we </a:t>
            </a:r>
            <a:r>
              <a:rPr lang="en-US" dirty="0" err="1"/>
              <a:t>analyse</a:t>
            </a:r>
            <a:r>
              <a:rPr lang="en-US" dirty="0"/>
              <a:t> it?</a:t>
            </a:r>
          </a:p>
        </p:txBody>
      </p:sp>
      <p:sp>
        <p:nvSpPr>
          <p:cNvPr id="4" name="Footer Placeholder 3">
            <a:extLst>
              <a:ext uri="{FF2B5EF4-FFF2-40B4-BE49-F238E27FC236}">
                <a16:creationId xmlns:a16="http://schemas.microsoft.com/office/drawing/2014/main" id="{E6CF4B0F-B0A6-BE54-26A8-CDBCFC1C65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DEE897-6033-0F4E-0FC3-7518FE207CF4}"/>
              </a:ext>
            </a:extLst>
          </p:cNvPr>
          <p:cNvSpPr>
            <a:spLocks noGrp="1"/>
          </p:cNvSpPr>
          <p:nvPr>
            <p:ph type="sldNum" sz="quarter" idx="12"/>
          </p:nvPr>
        </p:nvSpPr>
        <p:spPr/>
        <p:txBody>
          <a:bodyPr/>
          <a:lstStyle/>
          <a:p>
            <a:fld id="{50030A04-F7E4-3E4B-9633-650D11AB5897}" type="slidenum">
              <a:rPr lang="en-US" smtClean="0"/>
              <a:t>2</a:t>
            </a:fld>
            <a:endParaRPr lang="en-US"/>
          </a:p>
        </p:txBody>
      </p:sp>
    </p:spTree>
    <p:extLst>
      <p:ext uri="{BB962C8B-B14F-4D97-AF65-F5344CB8AC3E}">
        <p14:creationId xmlns:p14="http://schemas.microsoft.com/office/powerpoint/2010/main" val="617561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376C-9039-8F4A-BCB2-ACDF52F9D1A5}"/>
              </a:ext>
            </a:extLst>
          </p:cNvPr>
          <p:cNvSpPr>
            <a:spLocks noGrp="1"/>
          </p:cNvSpPr>
          <p:nvPr>
            <p:ph type="title"/>
          </p:nvPr>
        </p:nvSpPr>
        <p:spPr/>
        <p:txBody>
          <a:bodyPr/>
          <a:lstStyle/>
          <a:p>
            <a:pPr algn="ctr"/>
            <a:r>
              <a:rPr lang="en-US" dirty="0"/>
              <a:t>1. General Remarks</a:t>
            </a:r>
            <a:endParaRPr lang="en-FR" dirty="0"/>
          </a:p>
        </p:txBody>
      </p:sp>
      <p:sp>
        <p:nvSpPr>
          <p:cNvPr id="3" name="Content Placeholder 2">
            <a:extLst>
              <a:ext uri="{FF2B5EF4-FFF2-40B4-BE49-F238E27FC236}">
                <a16:creationId xmlns:a16="http://schemas.microsoft.com/office/drawing/2014/main" id="{403BA668-B8B1-CE41-960D-01FCBE2B38C3}"/>
              </a:ext>
            </a:extLst>
          </p:cNvPr>
          <p:cNvSpPr>
            <a:spLocks noGrp="1"/>
          </p:cNvSpPr>
          <p:nvPr>
            <p:ph idx="1"/>
          </p:nvPr>
        </p:nvSpPr>
        <p:spPr/>
        <p:txBody>
          <a:bodyPr/>
          <a:lstStyle/>
          <a:p>
            <a:pPr marL="0" indent="0">
              <a:buNone/>
            </a:pPr>
            <a:r>
              <a:rPr lang="en-FR" dirty="0"/>
              <a:t>By “Institution” I mean a human system or organisation – </a:t>
            </a:r>
            <a:r>
              <a:rPr lang="en-FR"/>
              <a:t>a </a:t>
            </a:r>
            <a:r>
              <a:rPr lang="en-US" dirty="0"/>
              <a:t>region, a </a:t>
            </a:r>
            <a:r>
              <a:rPr lang="en-FR"/>
              <a:t>company</a:t>
            </a:r>
            <a:r>
              <a:rPr lang="en-FR" dirty="0"/>
              <a:t>, </a:t>
            </a:r>
            <a:r>
              <a:rPr lang="en-FR"/>
              <a:t>a government</a:t>
            </a:r>
            <a:r>
              <a:rPr lang="en-FR" dirty="0"/>
              <a:t>, a university, a municipality, a household...  </a:t>
            </a:r>
          </a:p>
          <a:p>
            <a:pPr marL="0" indent="0">
              <a:buNone/>
            </a:pPr>
            <a:r>
              <a:rPr lang="en-FR" dirty="0"/>
              <a:t>It has a boundary/identity, rules, purpose and a context/milieu.</a:t>
            </a:r>
          </a:p>
          <a:p>
            <a:pPr marL="0" indent="0">
              <a:buNone/>
            </a:pPr>
            <a:r>
              <a:rPr lang="en-FR" dirty="0"/>
              <a:t>Institutions </a:t>
            </a:r>
            <a:r>
              <a:rPr lang="en-FR" i="1" dirty="0"/>
              <a:t>influence our behaviour </a:t>
            </a:r>
            <a:r>
              <a:rPr lang="en-FR" dirty="0"/>
              <a:t>both as members, users or as finding ourselves in the same context. </a:t>
            </a:r>
          </a:p>
          <a:p>
            <a:pPr marL="0" indent="0">
              <a:buNone/>
            </a:pPr>
            <a:r>
              <a:rPr lang="en-FR" dirty="0"/>
              <a:t>We also influence institutions.   </a:t>
            </a:r>
          </a:p>
        </p:txBody>
      </p:sp>
      <p:sp>
        <p:nvSpPr>
          <p:cNvPr id="4" name="Footer Placeholder 3">
            <a:extLst>
              <a:ext uri="{FF2B5EF4-FFF2-40B4-BE49-F238E27FC236}">
                <a16:creationId xmlns:a16="http://schemas.microsoft.com/office/drawing/2014/main" id="{E3E9F628-4323-284B-B06F-E4EE50C4C6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986761-8EF6-BB44-BCF8-9C9B58124929}"/>
              </a:ext>
            </a:extLst>
          </p:cNvPr>
          <p:cNvSpPr>
            <a:spLocks noGrp="1"/>
          </p:cNvSpPr>
          <p:nvPr>
            <p:ph type="sldNum" sz="quarter" idx="12"/>
          </p:nvPr>
        </p:nvSpPr>
        <p:spPr/>
        <p:txBody>
          <a:bodyPr/>
          <a:lstStyle/>
          <a:p>
            <a:fld id="{50030A04-F7E4-3E4B-9633-650D11AB5897}" type="slidenum">
              <a:rPr lang="en-US" smtClean="0"/>
              <a:t>3</a:t>
            </a:fld>
            <a:endParaRPr lang="en-US"/>
          </a:p>
        </p:txBody>
      </p:sp>
    </p:spTree>
    <p:extLst>
      <p:ext uri="{BB962C8B-B14F-4D97-AF65-F5344CB8AC3E}">
        <p14:creationId xmlns:p14="http://schemas.microsoft.com/office/powerpoint/2010/main" val="39673927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28DC-144B-1649-BF79-8ACB9B0E326F}"/>
              </a:ext>
            </a:extLst>
          </p:cNvPr>
          <p:cNvSpPr>
            <a:spLocks noGrp="1"/>
          </p:cNvSpPr>
          <p:nvPr>
            <p:ph type="title"/>
          </p:nvPr>
        </p:nvSpPr>
        <p:spPr>
          <a:xfrm>
            <a:off x="838200" y="365125"/>
            <a:ext cx="10515600" cy="343535"/>
          </a:xfrm>
        </p:spPr>
        <p:txBody>
          <a:bodyPr>
            <a:normAutofit fontScale="90000"/>
          </a:bodyPr>
          <a:lstStyle/>
          <a:p>
            <a:pPr algn="ctr"/>
            <a:r>
              <a:rPr lang="en-US" dirty="0"/>
              <a:t>1. General remarks</a:t>
            </a:r>
            <a:r>
              <a:rPr lang="en-FR"/>
              <a:t>: </a:t>
            </a:r>
            <a:r>
              <a:rPr lang="en-FR" dirty="0"/>
              <a:t>Purpose</a:t>
            </a:r>
          </a:p>
        </p:txBody>
      </p:sp>
      <p:sp>
        <p:nvSpPr>
          <p:cNvPr id="3" name="Content Placeholder 2">
            <a:extLst>
              <a:ext uri="{FF2B5EF4-FFF2-40B4-BE49-F238E27FC236}">
                <a16:creationId xmlns:a16="http://schemas.microsoft.com/office/drawing/2014/main" id="{788668A1-7954-7445-B9B1-3179DFD8C992}"/>
              </a:ext>
            </a:extLst>
          </p:cNvPr>
          <p:cNvSpPr>
            <a:spLocks noGrp="1"/>
          </p:cNvSpPr>
          <p:nvPr>
            <p:ph idx="1"/>
          </p:nvPr>
        </p:nvSpPr>
        <p:spPr>
          <a:xfrm>
            <a:off x="838200" y="1717589"/>
            <a:ext cx="10515600" cy="3533544"/>
          </a:xfrm>
        </p:spPr>
        <p:txBody>
          <a:bodyPr>
            <a:normAutofit/>
          </a:bodyPr>
          <a:lstStyle/>
          <a:p>
            <a:pPr marL="0" indent="0">
              <a:buNone/>
            </a:pPr>
            <a:r>
              <a:rPr lang="en-FR" dirty="0"/>
              <a:t>A compass is meant to </a:t>
            </a:r>
            <a:r>
              <a:rPr lang="en-FR"/>
              <a:t>give </a:t>
            </a:r>
            <a:r>
              <a:rPr lang="en-US" dirty="0"/>
              <a:t>the institution</a:t>
            </a:r>
            <a:r>
              <a:rPr lang="en-FR"/>
              <a:t> </a:t>
            </a:r>
            <a:r>
              <a:rPr lang="en-FR" dirty="0"/>
              <a:t>a sense of direction. In our case the direction is </a:t>
            </a:r>
            <a:r>
              <a:rPr lang="en-FR"/>
              <a:t>a quality</a:t>
            </a:r>
            <a:r>
              <a:rPr lang="en-US" dirty="0"/>
              <a:t>-direction</a:t>
            </a:r>
            <a:r>
              <a:rPr lang="en-FR"/>
              <a:t> </a:t>
            </a:r>
            <a:r>
              <a:rPr lang="en-FR" dirty="0"/>
              <a:t>of the institution.</a:t>
            </a:r>
          </a:p>
          <a:p>
            <a:pPr marL="0" indent="0">
              <a:buNone/>
            </a:pPr>
            <a:r>
              <a:rPr lang="en-FR" dirty="0"/>
              <a:t>For any insitution, there are two compasses: a “wish” compass and an actual compass - based on facts.</a:t>
            </a:r>
          </a:p>
          <a:p>
            <a:pPr marL="0" indent="0">
              <a:buNone/>
            </a:pPr>
            <a:endParaRPr lang="en-FR" dirty="0"/>
          </a:p>
        </p:txBody>
      </p:sp>
      <p:sp>
        <p:nvSpPr>
          <p:cNvPr id="4" name="Footer Placeholder 3">
            <a:extLst>
              <a:ext uri="{FF2B5EF4-FFF2-40B4-BE49-F238E27FC236}">
                <a16:creationId xmlns:a16="http://schemas.microsoft.com/office/drawing/2014/main" id="{1DF92D8B-92A9-1E41-BBCA-F298990ED4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4003F1-B192-EE43-8111-0F9051A013F7}"/>
              </a:ext>
            </a:extLst>
          </p:cNvPr>
          <p:cNvSpPr>
            <a:spLocks noGrp="1"/>
          </p:cNvSpPr>
          <p:nvPr>
            <p:ph type="sldNum" sz="quarter" idx="12"/>
          </p:nvPr>
        </p:nvSpPr>
        <p:spPr/>
        <p:txBody>
          <a:bodyPr/>
          <a:lstStyle/>
          <a:p>
            <a:fld id="{50030A04-F7E4-3E4B-9633-650D11AB5897}" type="slidenum">
              <a:rPr lang="en-US" smtClean="0"/>
              <a:t>4</a:t>
            </a:fld>
            <a:endParaRPr lang="en-US"/>
          </a:p>
        </p:txBody>
      </p:sp>
    </p:spTree>
    <p:extLst>
      <p:ext uri="{BB962C8B-B14F-4D97-AF65-F5344CB8AC3E}">
        <p14:creationId xmlns:p14="http://schemas.microsoft.com/office/powerpoint/2010/main" val="67277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64FEA-2EF8-9551-E668-0B33064D5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A315C8-D26B-E99B-E2AA-D4E9991D57CF}"/>
              </a:ext>
            </a:extLst>
          </p:cNvPr>
          <p:cNvSpPr>
            <a:spLocks noGrp="1"/>
          </p:cNvSpPr>
          <p:nvPr>
            <p:ph type="title"/>
          </p:nvPr>
        </p:nvSpPr>
        <p:spPr>
          <a:xfrm>
            <a:off x="838200" y="365125"/>
            <a:ext cx="10515600" cy="343535"/>
          </a:xfrm>
        </p:spPr>
        <p:txBody>
          <a:bodyPr>
            <a:normAutofit fontScale="90000"/>
          </a:bodyPr>
          <a:lstStyle/>
          <a:p>
            <a:pPr algn="ctr"/>
            <a:r>
              <a:rPr lang="en-US" dirty="0"/>
              <a:t>1. General remarks</a:t>
            </a:r>
            <a:r>
              <a:rPr lang="en-FR"/>
              <a:t>: </a:t>
            </a:r>
            <a:r>
              <a:rPr lang="en-FR" dirty="0"/>
              <a:t>Purpose</a:t>
            </a:r>
          </a:p>
        </p:txBody>
      </p:sp>
      <p:sp>
        <p:nvSpPr>
          <p:cNvPr id="3" name="Content Placeholder 2">
            <a:extLst>
              <a:ext uri="{FF2B5EF4-FFF2-40B4-BE49-F238E27FC236}">
                <a16:creationId xmlns:a16="http://schemas.microsoft.com/office/drawing/2014/main" id="{EAAF0D48-0EAE-28B1-2B99-4F6F8380F462}"/>
              </a:ext>
            </a:extLst>
          </p:cNvPr>
          <p:cNvSpPr>
            <a:spLocks noGrp="1"/>
          </p:cNvSpPr>
          <p:nvPr>
            <p:ph idx="1"/>
          </p:nvPr>
        </p:nvSpPr>
        <p:spPr>
          <a:xfrm>
            <a:off x="838200" y="1717589"/>
            <a:ext cx="10515600" cy="3533544"/>
          </a:xfrm>
        </p:spPr>
        <p:txBody>
          <a:bodyPr>
            <a:normAutofit lnSpcReduction="10000"/>
          </a:bodyPr>
          <a:lstStyle/>
          <a:p>
            <a:pPr marL="0" indent="0">
              <a:buNone/>
            </a:pPr>
            <a:r>
              <a:rPr lang="en-FR"/>
              <a:t>An institutional compass can be used for: policy decisions or critique of policy, to justify policy or communicate policy. It can be used to include more people in the policy making process - making the institution more democratic. </a:t>
            </a:r>
          </a:p>
          <a:p>
            <a:pPr marL="0" indent="0">
              <a:buNone/>
            </a:pPr>
            <a:r>
              <a:rPr lang="en-FR"/>
              <a:t>It can be used to compare between: the same insitution at different times, similar institutions and even quite dis-similar institutions.</a:t>
            </a:r>
          </a:p>
          <a:p>
            <a:pPr marL="0" indent="0">
              <a:buNone/>
            </a:pPr>
            <a:r>
              <a:rPr lang="en-FR"/>
              <a:t>Adaptations of the institutional compass can be used to evaluate, serve as an non-linear accouting devise</a:t>
            </a:r>
            <a:r>
              <a:rPr lang="en-US" dirty="0"/>
              <a:t>, and therefore, as an economic conception that goes beyond monetary values</a:t>
            </a:r>
            <a:r>
              <a:rPr lang="en-FR"/>
              <a:t>.    </a:t>
            </a:r>
          </a:p>
          <a:p>
            <a:pPr marL="0" indent="0">
              <a:buNone/>
            </a:pPr>
            <a:endParaRPr lang="en-FR" dirty="0"/>
          </a:p>
        </p:txBody>
      </p:sp>
      <p:sp>
        <p:nvSpPr>
          <p:cNvPr id="4" name="Footer Placeholder 3">
            <a:extLst>
              <a:ext uri="{FF2B5EF4-FFF2-40B4-BE49-F238E27FC236}">
                <a16:creationId xmlns:a16="http://schemas.microsoft.com/office/drawing/2014/main" id="{76C5B030-DE41-88AE-4083-C5A17F90CA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FDB095-9CCC-3C1F-312F-7C3E120A57CE}"/>
              </a:ext>
            </a:extLst>
          </p:cNvPr>
          <p:cNvSpPr>
            <a:spLocks noGrp="1"/>
          </p:cNvSpPr>
          <p:nvPr>
            <p:ph type="sldNum" sz="quarter" idx="12"/>
          </p:nvPr>
        </p:nvSpPr>
        <p:spPr/>
        <p:txBody>
          <a:bodyPr/>
          <a:lstStyle/>
          <a:p>
            <a:fld id="{50030A04-F7E4-3E4B-9633-650D11AB5897}" type="slidenum">
              <a:rPr lang="en-US" smtClean="0"/>
              <a:t>5</a:t>
            </a:fld>
            <a:endParaRPr lang="en-US"/>
          </a:p>
        </p:txBody>
      </p:sp>
    </p:spTree>
    <p:extLst>
      <p:ext uri="{BB962C8B-B14F-4D97-AF65-F5344CB8AC3E}">
        <p14:creationId xmlns:p14="http://schemas.microsoft.com/office/powerpoint/2010/main" val="121791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B9583-4471-064D-ACF6-BD4E20316709}"/>
              </a:ext>
            </a:extLst>
          </p:cNvPr>
          <p:cNvSpPr>
            <a:spLocks noGrp="1"/>
          </p:cNvSpPr>
          <p:nvPr>
            <p:ph type="title"/>
          </p:nvPr>
        </p:nvSpPr>
        <p:spPr/>
        <p:txBody>
          <a:bodyPr/>
          <a:lstStyle/>
          <a:p>
            <a:pPr algn="ctr"/>
            <a:r>
              <a:rPr lang="fr-FR" dirty="0"/>
              <a:t>1. General </a:t>
            </a:r>
            <a:r>
              <a:rPr lang="fr-FR" dirty="0" err="1"/>
              <a:t>remarks</a:t>
            </a:r>
            <a:r>
              <a:rPr lang="fr-FR" dirty="0"/>
              <a:t>: The </a:t>
            </a:r>
            <a:r>
              <a:rPr lang="fr-FR" dirty="0" err="1"/>
              <a:t>three</a:t>
            </a:r>
            <a:r>
              <a:rPr lang="fr-FR" dirty="0"/>
              <a:t> </a:t>
            </a:r>
            <a:r>
              <a:rPr lang="fr-FR" dirty="0" err="1"/>
              <a:t>Qualities</a:t>
            </a:r>
            <a:endParaRPr lang="fr-FR" dirty="0"/>
          </a:p>
        </p:txBody>
      </p:sp>
      <p:sp>
        <p:nvSpPr>
          <p:cNvPr id="4" name="Footer Placeholder 3">
            <a:extLst>
              <a:ext uri="{FF2B5EF4-FFF2-40B4-BE49-F238E27FC236}">
                <a16:creationId xmlns:a16="http://schemas.microsoft.com/office/drawing/2014/main" id="{26EEEE80-FE98-DD4E-AFDA-4DB7614CCCD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3E0AA27-8D35-D346-B9DB-961B9F72D03A}"/>
              </a:ext>
            </a:extLst>
          </p:cNvPr>
          <p:cNvSpPr>
            <a:spLocks noGrp="1"/>
          </p:cNvSpPr>
          <p:nvPr>
            <p:ph type="sldNum" sz="quarter" idx="12"/>
          </p:nvPr>
        </p:nvSpPr>
        <p:spPr/>
        <p:txBody>
          <a:bodyPr/>
          <a:lstStyle/>
          <a:p>
            <a:fld id="{50030A04-F7E4-3E4B-9633-650D11AB5897}" type="slidenum">
              <a:rPr lang="en-US" smtClean="0"/>
              <a:t>6</a:t>
            </a:fld>
            <a:endParaRPr lang="en-US"/>
          </a:p>
        </p:txBody>
      </p:sp>
      <p:graphicFrame>
        <p:nvGraphicFramePr>
          <p:cNvPr id="6" name="Content Placeholder 10">
            <a:extLst>
              <a:ext uri="{FF2B5EF4-FFF2-40B4-BE49-F238E27FC236}">
                <a16:creationId xmlns:a16="http://schemas.microsoft.com/office/drawing/2014/main" id="{6310C0CC-9D0D-3A42-A836-411E7899D161}"/>
              </a:ext>
            </a:extLst>
          </p:cNvPr>
          <p:cNvGraphicFramePr>
            <a:graphicFrameLocks noGrp="1"/>
          </p:cNvGraphicFramePr>
          <p:nvPr>
            <p:ph idx="1"/>
            <p:extLst>
              <p:ext uri="{D42A27DB-BD31-4B8C-83A1-F6EECF244321}">
                <p14:modId xmlns:p14="http://schemas.microsoft.com/office/powerpoint/2010/main" val="3634079641"/>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53392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46502-4F89-5B46-846D-B038C91E29A2}"/>
              </a:ext>
            </a:extLst>
          </p:cNvPr>
          <p:cNvSpPr>
            <a:spLocks noGrp="1"/>
          </p:cNvSpPr>
          <p:nvPr>
            <p:ph type="title"/>
          </p:nvPr>
        </p:nvSpPr>
        <p:spPr/>
        <p:txBody>
          <a:bodyPr/>
          <a:lstStyle/>
          <a:p>
            <a:pPr algn="ctr"/>
            <a:r>
              <a:rPr lang="fr-FR" dirty="0"/>
              <a:t>2. The </a:t>
            </a:r>
            <a:r>
              <a:rPr lang="fr-FR" dirty="0" err="1"/>
              <a:t>Wish</a:t>
            </a:r>
            <a:r>
              <a:rPr lang="fr-FR" dirty="0"/>
              <a:t> </a:t>
            </a:r>
            <a:r>
              <a:rPr lang="fr-FR" dirty="0" err="1"/>
              <a:t>compass</a:t>
            </a:r>
            <a:r>
              <a:rPr lang="fr-FR" dirty="0"/>
              <a:t>: </a:t>
            </a:r>
            <a:r>
              <a:rPr lang="fr-FR" dirty="0" err="1"/>
              <a:t>Identifying</a:t>
            </a:r>
            <a:r>
              <a:rPr lang="fr-FR" dirty="0"/>
              <a:t> a </a:t>
            </a:r>
            <a:r>
              <a:rPr lang="fr-FR" dirty="0" err="1"/>
              <a:t>wish</a:t>
            </a:r>
            <a:r>
              <a:rPr lang="fr-FR" dirty="0"/>
              <a:t> spot</a:t>
            </a:r>
          </a:p>
        </p:txBody>
      </p:sp>
      <p:sp>
        <p:nvSpPr>
          <p:cNvPr id="4" name="Footer Placeholder 3">
            <a:extLst>
              <a:ext uri="{FF2B5EF4-FFF2-40B4-BE49-F238E27FC236}">
                <a16:creationId xmlns:a16="http://schemas.microsoft.com/office/drawing/2014/main" id="{47243AE6-28FF-DE44-AB65-66716C926D70}"/>
              </a:ext>
            </a:extLst>
          </p:cNvPr>
          <p:cNvSpPr>
            <a:spLocks noGrp="1"/>
          </p:cNvSpPr>
          <p:nvPr>
            <p:ph type="ftr" sz="quarter" idx="11"/>
          </p:nvPr>
        </p:nvSpPr>
        <p:spPr>
          <a:xfrm>
            <a:off x="1794075" y="6356350"/>
            <a:ext cx="8275899" cy="365125"/>
          </a:xfrm>
        </p:spPr>
        <p:txBody>
          <a:bodyPr/>
          <a:lstStyle/>
          <a:p>
            <a:r>
              <a:rPr lang="en-US" sz="1600" dirty="0">
                <a:solidFill>
                  <a:srgbClr val="FF0000"/>
                </a:solidFill>
              </a:rPr>
              <a:t>Claim: for strong-sustainability the wish spot should be in harmony.</a:t>
            </a:r>
          </a:p>
        </p:txBody>
      </p:sp>
      <p:sp>
        <p:nvSpPr>
          <p:cNvPr id="5" name="Slide Number Placeholder 4">
            <a:extLst>
              <a:ext uri="{FF2B5EF4-FFF2-40B4-BE49-F238E27FC236}">
                <a16:creationId xmlns:a16="http://schemas.microsoft.com/office/drawing/2014/main" id="{66EE18C3-D594-294A-BC94-E2EC48CBCC30}"/>
              </a:ext>
            </a:extLst>
          </p:cNvPr>
          <p:cNvSpPr>
            <a:spLocks noGrp="1"/>
          </p:cNvSpPr>
          <p:nvPr>
            <p:ph type="sldNum" sz="quarter" idx="12"/>
          </p:nvPr>
        </p:nvSpPr>
        <p:spPr/>
        <p:txBody>
          <a:bodyPr/>
          <a:lstStyle/>
          <a:p>
            <a:fld id="{50030A04-F7E4-3E4B-9633-650D11AB5897}" type="slidenum">
              <a:rPr lang="en-US" smtClean="0"/>
              <a:t>7</a:t>
            </a:fld>
            <a:endParaRPr lang="en-US"/>
          </a:p>
        </p:txBody>
      </p:sp>
      <p:graphicFrame>
        <p:nvGraphicFramePr>
          <p:cNvPr id="6" name="Content Placeholder 10">
            <a:extLst>
              <a:ext uri="{FF2B5EF4-FFF2-40B4-BE49-F238E27FC236}">
                <a16:creationId xmlns:a16="http://schemas.microsoft.com/office/drawing/2014/main" id="{9A4B5FB6-3F45-EB49-BAD5-85F753A3EFFB}"/>
              </a:ext>
            </a:extLst>
          </p:cNvPr>
          <p:cNvGraphicFramePr>
            <a:graphicFrameLocks noGrp="1"/>
          </p:cNvGraphicFramePr>
          <p:nvPr>
            <p:ph idx="1"/>
            <p:extLst>
              <p:ext uri="{D42A27DB-BD31-4B8C-83A1-F6EECF244321}">
                <p14:modId xmlns:p14="http://schemas.microsoft.com/office/powerpoint/2010/main" val="4176357101"/>
              </p:ext>
            </p:extLst>
          </p:nvPr>
        </p:nvGraphicFramePr>
        <p:xfrm>
          <a:off x="838200" y="1825625"/>
          <a:ext cx="10515600" cy="43513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47862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756283"/>
          </a:xfrm>
        </p:spPr>
        <p:txBody>
          <a:bodyPr>
            <a:normAutofit fontScale="90000"/>
          </a:bodyPr>
          <a:lstStyle/>
          <a:p>
            <a:pPr algn="ctr"/>
            <a:br>
              <a:rPr lang="en-US" dirty="0"/>
            </a:br>
            <a:r>
              <a:rPr lang="en-US" dirty="0"/>
              <a:t>2. The Wish Spot and the Actual Compass: </a:t>
            </a:r>
            <a:r>
              <a:rPr lang="en-GB" sz="3600" dirty="0"/>
              <a:t>An institutional compass indicates the direction of an institution in terms of the three general qualities. </a:t>
            </a:r>
            <a:br>
              <a:rPr lang="en-GB" sz="3600" dirty="0"/>
            </a:br>
            <a:endParaRPr lang="en-US" sz="3600" dirty="0"/>
          </a:p>
        </p:txBody>
      </p:sp>
      <p:sp>
        <p:nvSpPr>
          <p:cNvPr id="4" name="Footer Placeholder 3"/>
          <p:cNvSpPr>
            <a:spLocks noGrp="1"/>
          </p:cNvSpPr>
          <p:nvPr>
            <p:ph type="ftr" sz="quarter" idx="11"/>
          </p:nvPr>
        </p:nvSpPr>
        <p:spPr>
          <a:xfrm>
            <a:off x="2905245" y="6177472"/>
            <a:ext cx="6805913" cy="544004"/>
          </a:xfrm>
        </p:spPr>
        <p:txBody>
          <a:bodyPr/>
          <a:lstStyle/>
          <a:p>
            <a:r>
              <a:rPr lang="en-US" sz="1600" dirty="0">
                <a:solidFill>
                  <a:srgbClr val="C00000"/>
                </a:solidFill>
              </a:rPr>
              <a:t>The arrow is the direction of the institution as “measured” by data</a:t>
            </a:r>
            <a:r>
              <a:rPr lang="en-US" dirty="0">
                <a:solidFill>
                  <a:srgbClr val="C00000"/>
                </a:solidFill>
              </a:rPr>
              <a:t>.</a:t>
            </a:r>
          </a:p>
        </p:txBody>
      </p:sp>
      <p:sp>
        <p:nvSpPr>
          <p:cNvPr id="5" name="Slide Number Placeholder 4"/>
          <p:cNvSpPr>
            <a:spLocks noGrp="1"/>
          </p:cNvSpPr>
          <p:nvPr>
            <p:ph type="sldNum" sz="quarter" idx="12"/>
          </p:nvPr>
        </p:nvSpPr>
        <p:spPr/>
        <p:txBody>
          <a:bodyPr/>
          <a:lstStyle/>
          <a:p>
            <a:fld id="{50030A04-F7E4-3E4B-9633-650D11AB5897}" type="slidenum">
              <a:rPr lang="en-US" smtClean="0"/>
              <a:t>8</a:t>
            </a:fld>
            <a:endParaRPr lang="en-US"/>
          </a:p>
        </p:txBody>
      </p:sp>
      <p:graphicFrame>
        <p:nvGraphicFramePr>
          <p:cNvPr id="6" name="Content Placeholder 10">
            <a:extLst>
              <a:ext uri="{FF2B5EF4-FFF2-40B4-BE49-F238E27FC236}">
                <a16:creationId xmlns:a16="http://schemas.microsoft.com/office/drawing/2014/main" id="{319A9F58-C400-4B93-8964-2E8542DB1FA6}"/>
              </a:ext>
            </a:extLst>
          </p:cNvPr>
          <p:cNvGraphicFramePr>
            <a:graphicFrameLocks noGrp="1"/>
          </p:cNvGraphicFramePr>
          <p:nvPr>
            <p:ph idx="1"/>
            <p:extLst>
              <p:ext uri="{D42A27DB-BD31-4B8C-83A1-F6EECF244321}">
                <p14:modId xmlns:p14="http://schemas.microsoft.com/office/powerpoint/2010/main" val="2307547107"/>
              </p:ext>
            </p:extLst>
          </p:nvPr>
        </p:nvGraphicFramePr>
        <p:xfrm>
          <a:off x="575575" y="2121408"/>
          <a:ext cx="10515600" cy="40560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4666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F7C7C-01E5-FB47-A807-ADF6F73DD870}"/>
              </a:ext>
            </a:extLst>
          </p:cNvPr>
          <p:cNvSpPr>
            <a:spLocks noGrp="1"/>
          </p:cNvSpPr>
          <p:nvPr>
            <p:ph type="title"/>
          </p:nvPr>
        </p:nvSpPr>
        <p:spPr/>
        <p:txBody>
          <a:bodyPr>
            <a:normAutofit fontScale="90000"/>
          </a:bodyPr>
          <a:lstStyle/>
          <a:p>
            <a:pPr algn="ctr"/>
            <a:r>
              <a:rPr lang="en-US" dirty="0"/>
              <a:t>2. </a:t>
            </a:r>
            <a:r>
              <a:rPr lang="en-GB" sz="4400" dirty="0"/>
              <a:t>An institutional compass indicates the direction of an institution in terms of the three general qualities.</a:t>
            </a:r>
            <a:endParaRPr lang="fr-FR" dirty="0"/>
          </a:p>
        </p:txBody>
      </p:sp>
      <p:sp>
        <p:nvSpPr>
          <p:cNvPr id="3" name="Content Placeholder 2">
            <a:extLst>
              <a:ext uri="{FF2B5EF4-FFF2-40B4-BE49-F238E27FC236}">
                <a16:creationId xmlns:a16="http://schemas.microsoft.com/office/drawing/2014/main" id="{6D988DA8-7882-834E-BA48-2D7DA708D672}"/>
              </a:ext>
            </a:extLst>
          </p:cNvPr>
          <p:cNvSpPr>
            <a:spLocks noGrp="1"/>
          </p:cNvSpPr>
          <p:nvPr>
            <p:ph idx="1"/>
          </p:nvPr>
        </p:nvSpPr>
        <p:spPr/>
        <p:txBody>
          <a:bodyPr/>
          <a:lstStyle/>
          <a:p>
            <a:pPr marL="0" indent="0">
              <a:buNone/>
            </a:pPr>
            <a:r>
              <a:rPr lang="fr-FR" dirty="0"/>
              <a:t>The </a:t>
            </a:r>
            <a:r>
              <a:rPr lang="fr-FR" dirty="0" err="1"/>
              <a:t>arrow</a:t>
            </a:r>
            <a:r>
              <a:rPr lang="fr-FR" dirty="0"/>
              <a:t> of the </a:t>
            </a:r>
            <a:r>
              <a:rPr lang="fr-FR" dirty="0" err="1"/>
              <a:t>actual</a:t>
            </a:r>
            <a:r>
              <a:rPr lang="fr-FR" dirty="0"/>
              <a:t> </a:t>
            </a:r>
            <a:r>
              <a:rPr lang="fr-FR" dirty="0" err="1"/>
              <a:t>compass</a:t>
            </a:r>
            <a:r>
              <a:rPr lang="fr-FR" dirty="0"/>
              <a:t> </a:t>
            </a:r>
            <a:r>
              <a:rPr lang="fr-FR" dirty="0" err="1"/>
              <a:t>is</a:t>
            </a:r>
            <a:r>
              <a:rPr lang="fr-FR" dirty="0"/>
              <a:t> </a:t>
            </a:r>
            <a:r>
              <a:rPr lang="fr-FR" dirty="0" err="1"/>
              <a:t>mathematically</a:t>
            </a:r>
            <a:r>
              <a:rPr lang="fr-FR" dirty="0"/>
              <a:t> </a:t>
            </a:r>
            <a:r>
              <a:rPr lang="fr-FR" dirty="0" err="1"/>
              <a:t>calculated</a:t>
            </a:r>
            <a:r>
              <a:rPr lang="fr-FR" dirty="0"/>
              <a:t> </a:t>
            </a:r>
            <a:r>
              <a:rPr lang="fr-FR" dirty="0" err="1"/>
              <a:t>from</a:t>
            </a:r>
            <a:r>
              <a:rPr lang="fr-FR" dirty="0"/>
              <a:t> a </a:t>
            </a:r>
            <a:r>
              <a:rPr lang="fr-FR" dirty="0" err="1"/>
              <a:t>number</a:t>
            </a:r>
            <a:r>
              <a:rPr lang="fr-FR" dirty="0"/>
              <a:t> of data points </a:t>
            </a:r>
            <a:r>
              <a:rPr lang="fr-FR" dirty="0" err="1"/>
              <a:t>which</a:t>
            </a:r>
            <a:r>
              <a:rPr lang="fr-FR" dirty="0"/>
              <a:t> are </a:t>
            </a:r>
            <a:r>
              <a:rPr lang="fr-FR" dirty="0" err="1"/>
              <a:t>each</a:t>
            </a:r>
            <a:r>
              <a:rPr lang="fr-FR" dirty="0"/>
              <a:t> </a:t>
            </a:r>
            <a:r>
              <a:rPr lang="fr-FR" i="1" dirty="0" err="1"/>
              <a:t>analysed</a:t>
            </a:r>
            <a:r>
              <a:rPr lang="fr-FR" dirty="0"/>
              <a:t> as a « data </a:t>
            </a:r>
            <a:r>
              <a:rPr lang="fr-FR" dirty="0" err="1"/>
              <a:t>arrow</a:t>
            </a:r>
            <a:r>
              <a:rPr lang="fr-FR" dirty="0"/>
              <a:t> ».</a:t>
            </a:r>
          </a:p>
          <a:p>
            <a:pPr marL="0" indent="0">
              <a:buNone/>
            </a:pPr>
            <a:r>
              <a:rPr lang="fr-FR" dirty="0" err="1"/>
              <a:t>Soon</a:t>
            </a:r>
            <a:r>
              <a:rPr lang="fr-FR" dirty="0"/>
              <a:t> </a:t>
            </a:r>
            <a:r>
              <a:rPr lang="fr-FR" dirty="0" err="1"/>
              <a:t>we</a:t>
            </a:r>
            <a:r>
              <a:rPr lang="fr-FR" dirty="0"/>
              <a:t> </a:t>
            </a:r>
            <a:r>
              <a:rPr lang="fr-FR" dirty="0" err="1"/>
              <a:t>shall</a:t>
            </a:r>
            <a:r>
              <a:rPr lang="fr-FR" dirty="0"/>
              <a:t> </a:t>
            </a:r>
            <a:r>
              <a:rPr lang="fr-FR" dirty="0" err="1"/>
              <a:t>discuss</a:t>
            </a:r>
            <a:r>
              <a:rPr lang="fr-FR" dirty="0"/>
              <a:t> the collection and </a:t>
            </a:r>
            <a:r>
              <a:rPr lang="fr-FR" dirty="0" err="1"/>
              <a:t>analysis</a:t>
            </a:r>
            <a:r>
              <a:rPr lang="fr-FR" dirty="0"/>
              <a:t> of data points and the </a:t>
            </a:r>
            <a:r>
              <a:rPr lang="fr-FR" dirty="0" err="1"/>
              <a:t>mathematics</a:t>
            </a:r>
            <a:r>
              <a:rPr lang="fr-FR" dirty="0"/>
              <a:t> for the </a:t>
            </a:r>
            <a:r>
              <a:rPr lang="fr-FR" dirty="0" err="1"/>
              <a:t>measurement</a:t>
            </a:r>
            <a:r>
              <a:rPr lang="fr-FR" dirty="0"/>
              <a:t>. But first let us jump to the end of the story. </a:t>
            </a:r>
          </a:p>
          <a:p>
            <a:pPr marL="0" indent="0">
              <a:buNone/>
            </a:pPr>
            <a:r>
              <a:rPr lang="fr-FR" dirty="0" err="1"/>
              <a:t>We</a:t>
            </a:r>
            <a:r>
              <a:rPr lang="fr-FR" dirty="0"/>
              <a:t> compare the </a:t>
            </a:r>
            <a:r>
              <a:rPr lang="fr-FR" dirty="0" err="1"/>
              <a:t>actual</a:t>
            </a:r>
            <a:r>
              <a:rPr lang="fr-FR" dirty="0"/>
              <a:t> </a:t>
            </a:r>
            <a:r>
              <a:rPr lang="fr-FR" dirty="0" err="1"/>
              <a:t>compass</a:t>
            </a:r>
            <a:r>
              <a:rPr lang="fr-FR" dirty="0"/>
              <a:t> to the </a:t>
            </a:r>
            <a:r>
              <a:rPr lang="fr-FR" dirty="0" err="1"/>
              <a:t>wish</a:t>
            </a:r>
            <a:r>
              <a:rPr lang="fr-FR" dirty="0"/>
              <a:t> spot.</a:t>
            </a:r>
          </a:p>
        </p:txBody>
      </p:sp>
      <p:sp>
        <p:nvSpPr>
          <p:cNvPr id="4" name="Footer Placeholder 3">
            <a:extLst>
              <a:ext uri="{FF2B5EF4-FFF2-40B4-BE49-F238E27FC236}">
                <a16:creationId xmlns:a16="http://schemas.microsoft.com/office/drawing/2014/main" id="{5FD3813D-9703-B34C-906F-4AD6E8B867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752957-4ABF-064F-8C96-7E4B072C8CD6}"/>
              </a:ext>
            </a:extLst>
          </p:cNvPr>
          <p:cNvSpPr>
            <a:spLocks noGrp="1"/>
          </p:cNvSpPr>
          <p:nvPr>
            <p:ph type="sldNum" sz="quarter" idx="12"/>
          </p:nvPr>
        </p:nvSpPr>
        <p:spPr/>
        <p:txBody>
          <a:bodyPr/>
          <a:lstStyle/>
          <a:p>
            <a:fld id="{50030A04-F7E4-3E4B-9633-650D11AB5897}" type="slidenum">
              <a:rPr lang="en-US" smtClean="0"/>
              <a:t>9</a:t>
            </a:fld>
            <a:endParaRPr lang="en-US"/>
          </a:p>
        </p:txBody>
      </p:sp>
    </p:spTree>
    <p:extLst>
      <p:ext uri="{BB962C8B-B14F-4D97-AF65-F5344CB8AC3E}">
        <p14:creationId xmlns:p14="http://schemas.microsoft.com/office/powerpoint/2010/main" val="3136281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5EC7C-44F4-0C27-647B-50E998AEBA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E660B3-00AA-D906-7995-93D4FAD1524C}"/>
              </a:ext>
            </a:extLst>
          </p:cNvPr>
          <p:cNvSpPr>
            <a:spLocks noGrp="1"/>
          </p:cNvSpPr>
          <p:nvPr>
            <p:ph type="title"/>
          </p:nvPr>
        </p:nvSpPr>
        <p:spPr/>
        <p:txBody>
          <a:bodyPr>
            <a:normAutofit fontScale="90000"/>
          </a:bodyPr>
          <a:lstStyle/>
          <a:p>
            <a:pPr algn="ctr"/>
            <a:r>
              <a:rPr lang="en-US" dirty="0"/>
              <a:t>2. </a:t>
            </a:r>
            <a:r>
              <a:rPr lang="en-GB" sz="4400" dirty="0"/>
              <a:t>An institutional compass indicates the direction of an institution in terms of the three general qualities.</a:t>
            </a:r>
            <a:endParaRPr lang="fr-FR" dirty="0"/>
          </a:p>
        </p:txBody>
      </p:sp>
      <p:sp>
        <p:nvSpPr>
          <p:cNvPr id="3" name="Content Placeholder 2">
            <a:extLst>
              <a:ext uri="{FF2B5EF4-FFF2-40B4-BE49-F238E27FC236}">
                <a16:creationId xmlns:a16="http://schemas.microsoft.com/office/drawing/2014/main" id="{EBBE0580-7096-A263-882F-8C484EFE978E}"/>
              </a:ext>
            </a:extLst>
          </p:cNvPr>
          <p:cNvSpPr>
            <a:spLocks noGrp="1"/>
          </p:cNvSpPr>
          <p:nvPr>
            <p:ph idx="1"/>
          </p:nvPr>
        </p:nvSpPr>
        <p:spPr/>
        <p:txBody>
          <a:bodyPr>
            <a:normAutofit/>
          </a:bodyPr>
          <a:lstStyle/>
          <a:p>
            <a:pPr marL="0" indent="0">
              <a:buNone/>
            </a:pPr>
            <a:r>
              <a:rPr lang="fr-FR" dirty="0"/>
              <a:t>If the </a:t>
            </a:r>
            <a:r>
              <a:rPr lang="fr-FR" dirty="0" err="1"/>
              <a:t>arrow</a:t>
            </a:r>
            <a:r>
              <a:rPr lang="fr-FR" dirty="0"/>
              <a:t> </a:t>
            </a:r>
            <a:r>
              <a:rPr lang="fr-FR" dirty="0" err="1"/>
              <a:t>is</a:t>
            </a:r>
            <a:r>
              <a:rPr lang="fr-FR" dirty="0"/>
              <a:t> not </a:t>
            </a:r>
            <a:r>
              <a:rPr lang="fr-FR" dirty="0" err="1"/>
              <a:t>pointing</a:t>
            </a:r>
            <a:r>
              <a:rPr lang="fr-FR" dirty="0"/>
              <a:t> in the </a:t>
            </a:r>
            <a:r>
              <a:rPr lang="fr-FR" dirty="0" err="1"/>
              <a:t>wish</a:t>
            </a:r>
            <a:r>
              <a:rPr lang="fr-FR" dirty="0"/>
              <a:t> spot, </a:t>
            </a:r>
            <a:r>
              <a:rPr lang="fr-FR" dirty="0" err="1"/>
              <a:t>then</a:t>
            </a:r>
            <a:r>
              <a:rPr lang="fr-FR" dirty="0"/>
              <a:t> </a:t>
            </a:r>
            <a:r>
              <a:rPr lang="fr-FR" dirty="0" err="1"/>
              <a:t>we</a:t>
            </a:r>
            <a:r>
              <a:rPr lang="fr-FR" dirty="0"/>
              <a:t> look back at the data. </a:t>
            </a:r>
            <a:r>
              <a:rPr lang="fr-FR" dirty="0" err="1"/>
              <a:t>Since</a:t>
            </a:r>
            <a:r>
              <a:rPr lang="fr-FR" dirty="0"/>
              <a:t> </a:t>
            </a:r>
            <a:r>
              <a:rPr lang="fr-FR" dirty="0" err="1"/>
              <a:t>each</a:t>
            </a:r>
            <a:r>
              <a:rPr lang="fr-FR" dirty="0"/>
              <a:t> data point can </a:t>
            </a:r>
            <a:r>
              <a:rPr lang="fr-FR" dirty="0" err="1"/>
              <a:t>be</a:t>
            </a:r>
            <a:r>
              <a:rPr lang="fr-FR" dirty="0"/>
              <a:t> </a:t>
            </a:r>
            <a:r>
              <a:rPr lang="fr-FR" dirty="0" err="1"/>
              <a:t>represented</a:t>
            </a:r>
            <a:r>
              <a:rPr lang="fr-FR" dirty="0"/>
              <a:t> as an </a:t>
            </a:r>
            <a:r>
              <a:rPr lang="fr-FR" dirty="0" err="1"/>
              <a:t>arrow</a:t>
            </a:r>
            <a:r>
              <a:rPr lang="fr-FR" dirty="0"/>
              <a:t> in </a:t>
            </a:r>
            <a:r>
              <a:rPr lang="fr-FR" dirty="0" err="1"/>
              <a:t>its</a:t>
            </a:r>
            <a:r>
              <a:rPr lang="fr-FR" dirty="0"/>
              <a:t> </a:t>
            </a:r>
            <a:r>
              <a:rPr lang="fr-FR" dirty="0" err="1"/>
              <a:t>own</a:t>
            </a:r>
            <a:r>
              <a:rPr lang="fr-FR" dirty="0"/>
              <a:t> right, </a:t>
            </a:r>
            <a:r>
              <a:rPr lang="fr-FR" dirty="0" err="1"/>
              <a:t>we</a:t>
            </a:r>
            <a:r>
              <a:rPr lang="fr-FR" dirty="0"/>
              <a:t> can </a:t>
            </a:r>
            <a:r>
              <a:rPr lang="fr-FR" dirty="0" err="1"/>
              <a:t>ask</a:t>
            </a:r>
            <a:r>
              <a:rPr lang="fr-FR" dirty="0"/>
              <a:t>: </a:t>
            </a:r>
            <a:r>
              <a:rPr lang="fr-FR" dirty="0" err="1"/>
              <a:t>which</a:t>
            </a:r>
            <a:r>
              <a:rPr lang="fr-FR" dirty="0"/>
              <a:t> </a:t>
            </a:r>
            <a:r>
              <a:rPr lang="fr-FR" dirty="0" err="1"/>
              <a:t>arrows</a:t>
            </a:r>
            <a:r>
              <a:rPr lang="fr-FR" dirty="0"/>
              <a:t> (data points) point </a:t>
            </a:r>
            <a:r>
              <a:rPr lang="fr-FR" dirty="0" err="1"/>
              <a:t>away</a:t>
            </a:r>
            <a:r>
              <a:rPr lang="fr-FR" dirty="0"/>
              <a:t> </a:t>
            </a:r>
            <a:r>
              <a:rPr lang="fr-FR" dirty="0" err="1"/>
              <a:t>from</a:t>
            </a:r>
            <a:r>
              <a:rPr lang="fr-FR" dirty="0"/>
              <a:t> the </a:t>
            </a:r>
            <a:r>
              <a:rPr lang="fr-FR" dirty="0" err="1"/>
              <a:t>wish</a:t>
            </a:r>
            <a:r>
              <a:rPr lang="fr-FR" dirty="0"/>
              <a:t> spot, and </a:t>
            </a:r>
            <a:r>
              <a:rPr lang="fr-FR" dirty="0" err="1"/>
              <a:t>which</a:t>
            </a:r>
            <a:r>
              <a:rPr lang="fr-FR" dirty="0"/>
              <a:t> </a:t>
            </a:r>
            <a:r>
              <a:rPr lang="fr-FR" dirty="0" err="1"/>
              <a:t>arrows</a:t>
            </a:r>
            <a:r>
              <a:rPr lang="fr-FR" dirty="0"/>
              <a:t> point </a:t>
            </a:r>
            <a:r>
              <a:rPr lang="fr-FR" dirty="0" err="1"/>
              <a:t>towards</a:t>
            </a:r>
            <a:r>
              <a:rPr lang="fr-FR" dirty="0"/>
              <a:t>? For </a:t>
            </a:r>
            <a:r>
              <a:rPr lang="fr-FR" dirty="0" err="1"/>
              <a:t>policy</a:t>
            </a:r>
            <a:r>
              <a:rPr lang="fr-FR" dirty="0"/>
              <a:t>, </a:t>
            </a:r>
            <a:r>
              <a:rPr lang="fr-FR" dirty="0" err="1"/>
              <a:t>choose</a:t>
            </a:r>
            <a:r>
              <a:rPr lang="fr-FR" dirty="0"/>
              <a:t> </a:t>
            </a:r>
            <a:r>
              <a:rPr lang="fr-FR" dirty="0" err="1"/>
              <a:t>some</a:t>
            </a:r>
            <a:r>
              <a:rPr lang="fr-FR" dirty="0"/>
              <a:t> </a:t>
            </a:r>
            <a:r>
              <a:rPr lang="fr-FR" dirty="0" err="1"/>
              <a:t>that</a:t>
            </a:r>
            <a:r>
              <a:rPr lang="fr-FR" dirty="0"/>
              <a:t> </a:t>
            </a:r>
            <a:r>
              <a:rPr lang="fr-FR" dirty="0" err="1"/>
              <a:t>you</a:t>
            </a:r>
            <a:r>
              <a:rPr lang="fr-FR" dirty="0"/>
              <a:t> can influence </a:t>
            </a:r>
            <a:r>
              <a:rPr lang="fr-FR" dirty="0" err="1"/>
              <a:t>under</a:t>
            </a:r>
            <a:r>
              <a:rPr lang="fr-FR" dirty="0"/>
              <a:t> a </a:t>
            </a:r>
            <a:r>
              <a:rPr lang="fr-FR" dirty="0" err="1"/>
              <a:t>negotiated</a:t>
            </a:r>
            <a:r>
              <a:rPr lang="fr-FR" dirty="0"/>
              <a:t> time-frame.</a:t>
            </a:r>
          </a:p>
          <a:p>
            <a:pPr marL="0" indent="0">
              <a:buNone/>
            </a:pPr>
            <a:r>
              <a:rPr lang="fr-FR" dirty="0"/>
              <a:t>« Influence » </a:t>
            </a:r>
            <a:r>
              <a:rPr lang="fr-FR" dirty="0" err="1"/>
              <a:t>means</a:t>
            </a:r>
            <a:r>
              <a:rPr lang="fr-FR" dirty="0"/>
              <a:t> </a:t>
            </a:r>
            <a:r>
              <a:rPr lang="fr-FR" dirty="0" err="1"/>
              <a:t>make</a:t>
            </a:r>
            <a:r>
              <a:rPr lang="fr-FR" dirty="0"/>
              <a:t> longer or shorter, or </a:t>
            </a:r>
            <a:r>
              <a:rPr lang="fr-FR" dirty="0" err="1"/>
              <a:t>rotate</a:t>
            </a:r>
            <a:r>
              <a:rPr lang="fr-FR" dirty="0"/>
              <a:t>. </a:t>
            </a:r>
          </a:p>
          <a:p>
            <a:pPr marL="0" indent="0">
              <a:buNone/>
            </a:pPr>
            <a:r>
              <a:rPr lang="fr-FR" dirty="0"/>
              <a:t>Claim: If </a:t>
            </a:r>
            <a:r>
              <a:rPr lang="fr-FR" dirty="0" err="1"/>
              <a:t>enough</a:t>
            </a:r>
            <a:r>
              <a:rPr lang="fr-FR" dirty="0"/>
              <a:t> institutions commit to </a:t>
            </a:r>
            <a:r>
              <a:rPr lang="fr-FR" dirty="0" err="1"/>
              <a:t>influencing</a:t>
            </a:r>
            <a:r>
              <a:rPr lang="fr-FR" dirty="0"/>
              <a:t> key data points and carry out the influence </a:t>
            </a:r>
            <a:r>
              <a:rPr lang="fr-FR" dirty="0" err="1"/>
              <a:t>within</a:t>
            </a:r>
            <a:r>
              <a:rPr lang="fr-FR" dirty="0"/>
              <a:t> the </a:t>
            </a:r>
            <a:r>
              <a:rPr lang="fr-FR" dirty="0" err="1"/>
              <a:t>negotiated</a:t>
            </a:r>
            <a:r>
              <a:rPr lang="fr-FR" dirty="0"/>
              <a:t> </a:t>
            </a:r>
            <a:r>
              <a:rPr lang="fr-FR" dirty="0" err="1"/>
              <a:t>timeframe</a:t>
            </a:r>
            <a:r>
              <a:rPr lang="fr-FR" dirty="0"/>
              <a:t>, </a:t>
            </a:r>
            <a:r>
              <a:rPr lang="fr-FR" dirty="0" err="1"/>
              <a:t>then</a:t>
            </a:r>
            <a:r>
              <a:rPr lang="fr-FR" dirty="0"/>
              <a:t> the </a:t>
            </a:r>
            <a:r>
              <a:rPr lang="fr-FR" dirty="0" err="1"/>
              <a:t>actual</a:t>
            </a:r>
            <a:r>
              <a:rPr lang="fr-FR" dirty="0"/>
              <a:t> </a:t>
            </a:r>
            <a:r>
              <a:rPr lang="fr-FR" dirty="0" err="1"/>
              <a:t>arrow</a:t>
            </a:r>
            <a:r>
              <a:rPr lang="fr-FR" dirty="0"/>
              <a:t> </a:t>
            </a:r>
            <a:r>
              <a:rPr lang="fr-FR" dirty="0" err="1"/>
              <a:t>will</a:t>
            </a:r>
            <a:r>
              <a:rPr lang="fr-FR" dirty="0"/>
              <a:t> </a:t>
            </a:r>
            <a:r>
              <a:rPr lang="fr-FR" dirty="0" err="1"/>
              <a:t>approach</a:t>
            </a:r>
            <a:r>
              <a:rPr lang="fr-FR" dirty="0"/>
              <a:t> the </a:t>
            </a:r>
            <a:r>
              <a:rPr lang="fr-FR" dirty="0" err="1"/>
              <a:t>wish</a:t>
            </a:r>
            <a:r>
              <a:rPr lang="fr-FR" dirty="0"/>
              <a:t> spot – </a:t>
            </a:r>
            <a:r>
              <a:rPr lang="fr-FR" dirty="0" err="1"/>
              <a:t>provided</a:t>
            </a:r>
            <a:r>
              <a:rPr lang="fr-FR" dirty="0"/>
              <a:t> the </a:t>
            </a:r>
            <a:r>
              <a:rPr lang="fr-FR" dirty="0" err="1"/>
              <a:t>context</a:t>
            </a:r>
            <a:r>
              <a:rPr lang="fr-FR" dirty="0"/>
              <a:t> </a:t>
            </a:r>
            <a:r>
              <a:rPr lang="fr-FR" dirty="0" err="1"/>
              <a:t>does</a:t>
            </a:r>
            <a:r>
              <a:rPr lang="fr-FR" dirty="0"/>
              <a:t> not change </a:t>
            </a:r>
            <a:r>
              <a:rPr lang="fr-FR" dirty="0" err="1"/>
              <a:t>too</a:t>
            </a:r>
            <a:r>
              <a:rPr lang="fr-FR" dirty="0"/>
              <a:t> </a:t>
            </a:r>
            <a:r>
              <a:rPr lang="fr-FR" dirty="0" err="1"/>
              <a:t>much</a:t>
            </a:r>
            <a:r>
              <a:rPr lang="fr-FR" dirty="0"/>
              <a:t>. </a:t>
            </a:r>
          </a:p>
        </p:txBody>
      </p:sp>
      <p:sp>
        <p:nvSpPr>
          <p:cNvPr id="4" name="Footer Placeholder 3">
            <a:extLst>
              <a:ext uri="{FF2B5EF4-FFF2-40B4-BE49-F238E27FC236}">
                <a16:creationId xmlns:a16="http://schemas.microsoft.com/office/drawing/2014/main" id="{8E7A7773-9D5C-2A25-6914-73458F3438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F5F14-8252-27D9-D04B-4ECC75078B54}"/>
              </a:ext>
            </a:extLst>
          </p:cNvPr>
          <p:cNvSpPr>
            <a:spLocks noGrp="1"/>
          </p:cNvSpPr>
          <p:nvPr>
            <p:ph type="sldNum" sz="quarter" idx="12"/>
          </p:nvPr>
        </p:nvSpPr>
        <p:spPr/>
        <p:txBody>
          <a:bodyPr/>
          <a:lstStyle/>
          <a:p>
            <a:fld id="{50030A04-F7E4-3E4B-9633-650D11AB5897}" type="slidenum">
              <a:rPr lang="en-US" smtClean="0"/>
              <a:t>10</a:t>
            </a:fld>
            <a:endParaRPr lang="en-US"/>
          </a:p>
        </p:txBody>
      </p:sp>
    </p:spTree>
    <p:extLst>
      <p:ext uri="{BB962C8B-B14F-4D97-AF65-F5344CB8AC3E}">
        <p14:creationId xmlns:p14="http://schemas.microsoft.com/office/powerpoint/2010/main" val="3958074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50B5-7BED-836C-E629-0AE8CBFE1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3DDB16-7499-1626-131E-09321BF76E65}"/>
              </a:ext>
            </a:extLst>
          </p:cNvPr>
          <p:cNvSpPr>
            <a:spLocks noGrp="1"/>
          </p:cNvSpPr>
          <p:nvPr>
            <p:ph type="title"/>
          </p:nvPr>
        </p:nvSpPr>
        <p:spPr>
          <a:xfrm>
            <a:off x="838200" y="365125"/>
            <a:ext cx="10515600" cy="1756283"/>
          </a:xfrm>
        </p:spPr>
        <p:txBody>
          <a:bodyPr>
            <a:normAutofit fontScale="90000"/>
          </a:bodyPr>
          <a:lstStyle/>
          <a:p>
            <a:pPr algn="ctr"/>
            <a:br>
              <a:rPr lang="en-US" dirty="0"/>
            </a:br>
            <a:r>
              <a:rPr lang="en-US" dirty="0"/>
              <a:t>2. </a:t>
            </a:r>
            <a:r>
              <a:rPr lang="en-US" sz="4000" dirty="0"/>
              <a:t>The actual arrow moves through policy and action.</a:t>
            </a:r>
            <a:br>
              <a:rPr lang="en-US" sz="3600" dirty="0"/>
            </a:br>
            <a:br>
              <a:rPr lang="en-GB" sz="3600" dirty="0"/>
            </a:br>
            <a:endParaRPr lang="en-US" sz="3600" dirty="0"/>
          </a:p>
        </p:txBody>
      </p:sp>
      <p:sp>
        <p:nvSpPr>
          <p:cNvPr id="4" name="Footer Placeholder 3">
            <a:extLst>
              <a:ext uri="{FF2B5EF4-FFF2-40B4-BE49-F238E27FC236}">
                <a16:creationId xmlns:a16="http://schemas.microsoft.com/office/drawing/2014/main" id="{4014E962-7758-A64F-DA84-0225E4A4BE0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F6577CA-3BAD-853E-0DF6-CA80F78C7184}"/>
              </a:ext>
            </a:extLst>
          </p:cNvPr>
          <p:cNvSpPr>
            <a:spLocks noGrp="1"/>
          </p:cNvSpPr>
          <p:nvPr>
            <p:ph type="sldNum" sz="quarter" idx="12"/>
          </p:nvPr>
        </p:nvSpPr>
        <p:spPr/>
        <p:txBody>
          <a:bodyPr/>
          <a:lstStyle/>
          <a:p>
            <a:fld id="{50030A04-F7E4-3E4B-9633-650D11AB5897}" type="slidenum">
              <a:rPr lang="en-US" smtClean="0"/>
              <a:t>11</a:t>
            </a:fld>
            <a:endParaRPr lang="en-US"/>
          </a:p>
        </p:txBody>
      </p:sp>
      <p:graphicFrame>
        <p:nvGraphicFramePr>
          <p:cNvPr id="6" name="Content Placeholder 10">
            <a:extLst>
              <a:ext uri="{FF2B5EF4-FFF2-40B4-BE49-F238E27FC236}">
                <a16:creationId xmlns:a16="http://schemas.microsoft.com/office/drawing/2014/main" id="{E77BC849-C88C-41A1-B444-BAD777E878DD}"/>
              </a:ext>
            </a:extLst>
          </p:cNvPr>
          <p:cNvGraphicFramePr>
            <a:graphicFrameLocks noGrp="1"/>
          </p:cNvGraphicFramePr>
          <p:nvPr>
            <p:ph idx="1"/>
            <p:extLst>
              <p:ext uri="{D42A27DB-BD31-4B8C-83A1-F6EECF244321}">
                <p14:modId xmlns:p14="http://schemas.microsoft.com/office/powerpoint/2010/main" val="1804806614"/>
              </p:ext>
            </p:extLst>
          </p:nvPr>
        </p:nvGraphicFramePr>
        <p:xfrm>
          <a:off x="459828" y="2121408"/>
          <a:ext cx="10515600" cy="405606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55931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023DF-7609-FBA3-623B-6C9926D83465}"/>
              </a:ext>
            </a:extLst>
          </p:cNvPr>
          <p:cNvSpPr>
            <a:spLocks noGrp="1"/>
          </p:cNvSpPr>
          <p:nvPr>
            <p:ph type="title"/>
          </p:nvPr>
        </p:nvSpPr>
        <p:spPr/>
        <p:txBody>
          <a:bodyPr/>
          <a:lstStyle/>
          <a:p>
            <a:pPr algn="ctr"/>
            <a:r>
              <a:rPr lang="en-US" dirty="0"/>
              <a:t>3. Environmental Data, What is it?</a:t>
            </a:r>
          </a:p>
        </p:txBody>
      </p:sp>
      <p:sp>
        <p:nvSpPr>
          <p:cNvPr id="3" name="Content Placeholder 2">
            <a:extLst>
              <a:ext uri="{FF2B5EF4-FFF2-40B4-BE49-F238E27FC236}">
                <a16:creationId xmlns:a16="http://schemas.microsoft.com/office/drawing/2014/main" id="{BFAC7AC5-938E-2FA7-9069-1428CD24A7DF}"/>
              </a:ext>
            </a:extLst>
          </p:cNvPr>
          <p:cNvSpPr>
            <a:spLocks noGrp="1"/>
          </p:cNvSpPr>
          <p:nvPr>
            <p:ph idx="1"/>
          </p:nvPr>
        </p:nvSpPr>
        <p:spPr/>
        <p:txBody>
          <a:bodyPr/>
          <a:lstStyle/>
          <a:p>
            <a:pPr marL="0" indent="0">
              <a:buNone/>
            </a:pPr>
            <a:r>
              <a:rPr lang="en-US" dirty="0"/>
              <a:t>We’re going to collect 3 general types of data for our regions: environmental, economic and social. We start with environmental. </a:t>
            </a:r>
          </a:p>
        </p:txBody>
      </p:sp>
      <p:sp>
        <p:nvSpPr>
          <p:cNvPr id="4" name="Footer Placeholder 3">
            <a:extLst>
              <a:ext uri="{FF2B5EF4-FFF2-40B4-BE49-F238E27FC236}">
                <a16:creationId xmlns:a16="http://schemas.microsoft.com/office/drawing/2014/main" id="{981F5A79-6F7D-257E-2CDF-3601985DEE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2D757A-377A-8F47-3946-DE83297C0704}"/>
              </a:ext>
            </a:extLst>
          </p:cNvPr>
          <p:cNvSpPr>
            <a:spLocks noGrp="1"/>
          </p:cNvSpPr>
          <p:nvPr>
            <p:ph type="sldNum" sz="quarter" idx="12"/>
          </p:nvPr>
        </p:nvSpPr>
        <p:spPr/>
        <p:txBody>
          <a:bodyPr/>
          <a:lstStyle/>
          <a:p>
            <a:fld id="{50030A04-F7E4-3E4B-9633-650D11AB5897}" type="slidenum">
              <a:rPr lang="en-US" smtClean="0"/>
              <a:t>12</a:t>
            </a:fld>
            <a:endParaRPr lang="en-US"/>
          </a:p>
        </p:txBody>
      </p:sp>
    </p:spTree>
    <p:extLst>
      <p:ext uri="{BB962C8B-B14F-4D97-AF65-F5344CB8AC3E}">
        <p14:creationId xmlns:p14="http://schemas.microsoft.com/office/powerpoint/2010/main" val="3629210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06D72-842C-1776-C6F0-CBAFC3F9261D}"/>
              </a:ext>
            </a:extLst>
          </p:cNvPr>
          <p:cNvSpPr>
            <a:spLocks noGrp="1"/>
          </p:cNvSpPr>
          <p:nvPr>
            <p:ph type="title"/>
          </p:nvPr>
        </p:nvSpPr>
        <p:spPr/>
        <p:txBody>
          <a:bodyPr/>
          <a:lstStyle/>
          <a:p>
            <a:pPr algn="ctr"/>
            <a:r>
              <a:rPr lang="en-US" dirty="0"/>
              <a:t>3. Environmental data – what is it?</a:t>
            </a:r>
            <a:br>
              <a:rPr lang="en-US" dirty="0"/>
            </a:br>
            <a:endParaRPr lang="en-US" dirty="0"/>
          </a:p>
        </p:txBody>
      </p:sp>
      <p:sp>
        <p:nvSpPr>
          <p:cNvPr id="3" name="Content Placeholder 2">
            <a:extLst>
              <a:ext uri="{FF2B5EF4-FFF2-40B4-BE49-F238E27FC236}">
                <a16:creationId xmlns:a16="http://schemas.microsoft.com/office/drawing/2014/main" id="{44974FA1-C310-4DA2-7BA4-47F4005367AA}"/>
              </a:ext>
            </a:extLst>
          </p:cNvPr>
          <p:cNvSpPr>
            <a:spLocks noGrp="1"/>
          </p:cNvSpPr>
          <p:nvPr>
            <p:ph idx="1"/>
          </p:nvPr>
        </p:nvSpPr>
        <p:spPr>
          <a:xfrm>
            <a:off x="838200" y="1250066"/>
            <a:ext cx="10515600" cy="4926897"/>
          </a:xfrm>
        </p:spPr>
        <p:txBody>
          <a:bodyPr>
            <a:normAutofit/>
          </a:bodyPr>
          <a:lstStyle/>
          <a:p>
            <a:pPr marL="0" indent="0">
              <a:buNone/>
            </a:pPr>
            <a:r>
              <a:rPr lang="en-US" sz="3200" u="sng" dirty="0"/>
              <a:t>“Non-living” part of the environment</a:t>
            </a:r>
            <a:r>
              <a:rPr lang="en-US" sz="3200" dirty="0"/>
              <a:t>:</a:t>
            </a:r>
          </a:p>
          <a:p>
            <a:pPr marL="0" indent="0">
              <a:buNone/>
            </a:pPr>
            <a:r>
              <a:rPr lang="en-US" sz="3200" dirty="0"/>
              <a:t>Air quality indicators</a:t>
            </a:r>
          </a:p>
          <a:p>
            <a:pPr marL="0" indent="0">
              <a:buNone/>
            </a:pPr>
            <a:r>
              <a:rPr lang="en-US" sz="3200" dirty="0"/>
              <a:t>Water quality indicators</a:t>
            </a:r>
          </a:p>
          <a:p>
            <a:pPr marL="0" indent="0">
              <a:buNone/>
            </a:pPr>
            <a:r>
              <a:rPr lang="en-US" sz="3200" dirty="0"/>
              <a:t>Soil quality indicators</a:t>
            </a:r>
          </a:p>
          <a:p>
            <a:pPr marL="0" indent="0">
              <a:buNone/>
            </a:pPr>
            <a:r>
              <a:rPr lang="en-US" sz="3200" dirty="0"/>
              <a:t>Entropic change</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6C134795-1B53-712E-C27F-6CD966D65E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217736-44D2-0981-B604-7F7D7D20D809}"/>
              </a:ext>
            </a:extLst>
          </p:cNvPr>
          <p:cNvSpPr>
            <a:spLocks noGrp="1"/>
          </p:cNvSpPr>
          <p:nvPr>
            <p:ph type="sldNum" sz="quarter" idx="12"/>
          </p:nvPr>
        </p:nvSpPr>
        <p:spPr/>
        <p:txBody>
          <a:bodyPr/>
          <a:lstStyle/>
          <a:p>
            <a:fld id="{50030A04-F7E4-3E4B-9633-650D11AB5897}" type="slidenum">
              <a:rPr lang="en-US" smtClean="0"/>
              <a:t>13</a:t>
            </a:fld>
            <a:endParaRPr lang="en-US"/>
          </a:p>
        </p:txBody>
      </p:sp>
    </p:spTree>
    <p:extLst>
      <p:ext uri="{BB962C8B-B14F-4D97-AF65-F5344CB8AC3E}">
        <p14:creationId xmlns:p14="http://schemas.microsoft.com/office/powerpoint/2010/main" val="3852426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1059F-8A15-9A26-CF60-CDA163B70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A5214-6576-0FD4-2A4D-E48DA185BB70}"/>
              </a:ext>
            </a:extLst>
          </p:cNvPr>
          <p:cNvSpPr>
            <a:spLocks noGrp="1"/>
          </p:cNvSpPr>
          <p:nvPr>
            <p:ph type="title"/>
          </p:nvPr>
        </p:nvSpPr>
        <p:spPr/>
        <p:txBody>
          <a:bodyPr/>
          <a:lstStyle/>
          <a:p>
            <a:pPr algn="ctr"/>
            <a:r>
              <a:rPr lang="en-US" dirty="0"/>
              <a:t>3. Environmental data – what is it?</a:t>
            </a:r>
            <a:br>
              <a:rPr lang="en-US" dirty="0"/>
            </a:br>
            <a:endParaRPr lang="en-US" dirty="0"/>
          </a:p>
        </p:txBody>
      </p:sp>
      <p:sp>
        <p:nvSpPr>
          <p:cNvPr id="3" name="Content Placeholder 2">
            <a:extLst>
              <a:ext uri="{FF2B5EF4-FFF2-40B4-BE49-F238E27FC236}">
                <a16:creationId xmlns:a16="http://schemas.microsoft.com/office/drawing/2014/main" id="{7BB869EB-CF9D-C691-8BA8-3C3C9A2B444A}"/>
              </a:ext>
            </a:extLst>
          </p:cNvPr>
          <p:cNvSpPr>
            <a:spLocks noGrp="1"/>
          </p:cNvSpPr>
          <p:nvPr>
            <p:ph idx="1"/>
          </p:nvPr>
        </p:nvSpPr>
        <p:spPr>
          <a:xfrm>
            <a:off x="838200" y="1250066"/>
            <a:ext cx="10515600" cy="4926897"/>
          </a:xfrm>
        </p:spPr>
        <p:txBody>
          <a:bodyPr>
            <a:normAutofit/>
          </a:bodyPr>
          <a:lstStyle/>
          <a:p>
            <a:pPr marL="0" indent="0">
              <a:buNone/>
            </a:pPr>
            <a:r>
              <a:rPr lang="en-US" sz="3200" u="sng" dirty="0"/>
              <a:t>Living part of the environment</a:t>
            </a:r>
            <a:r>
              <a:rPr lang="en-US" sz="3200" dirty="0"/>
              <a:t>:</a:t>
            </a:r>
          </a:p>
          <a:p>
            <a:pPr marL="0" indent="0">
              <a:buNone/>
            </a:pPr>
            <a:r>
              <a:rPr lang="en-US" sz="3200" dirty="0"/>
              <a:t>“regular species mix”: roughly what is the density of: trees bushes, grasslands, water ecosystems; insects, worms… birds, rodents, reptiles, mammals… </a:t>
            </a:r>
          </a:p>
          <a:p>
            <a:pPr marL="0" indent="0">
              <a:buNone/>
            </a:pPr>
            <a:r>
              <a:rPr lang="en-US" sz="3200" dirty="0"/>
              <a:t>“Indicator species”: sensitive to changes in the environment – monitor their population density, and adaptive changes – </a:t>
            </a:r>
            <a:r>
              <a:rPr lang="en-US" sz="3200" dirty="0" err="1"/>
              <a:t>eg.</a:t>
            </a:r>
            <a:r>
              <a:rPr lang="en-US" sz="3200" dirty="0"/>
              <a:t> Smaller leaves on trees or bushes, shortened life-span...</a:t>
            </a:r>
          </a:p>
          <a:p>
            <a:pPr marL="0" indent="0">
              <a:buNone/>
            </a:pPr>
            <a:r>
              <a:rPr lang="en-US" sz="3200" dirty="0"/>
              <a:t>“New species” invasive species are an indicator of ecosystem collapse - monitor their population density, and ask what role they play in the eco</a:t>
            </a:r>
            <a:r>
              <a:rPr lang="en-US" sz="3200" i="1" dirty="0"/>
              <a:t>system. </a:t>
            </a:r>
            <a:r>
              <a:rPr lang="en-US" sz="3200" dirty="0"/>
              <a:t> </a:t>
            </a:r>
          </a:p>
          <a:p>
            <a:pPr marL="0" indent="0">
              <a:buNone/>
            </a:pPr>
            <a:endParaRPr lang="en-US" dirty="0"/>
          </a:p>
          <a:p>
            <a:pPr marL="0" indent="0">
              <a:buNone/>
            </a:pPr>
            <a:endParaRPr lang="en-US" dirty="0"/>
          </a:p>
        </p:txBody>
      </p:sp>
      <p:sp>
        <p:nvSpPr>
          <p:cNvPr id="4" name="Footer Placeholder 3">
            <a:extLst>
              <a:ext uri="{FF2B5EF4-FFF2-40B4-BE49-F238E27FC236}">
                <a16:creationId xmlns:a16="http://schemas.microsoft.com/office/drawing/2014/main" id="{517DE0D1-F0B9-3D8C-4327-8BC66B494E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98BACA-9990-AD7A-A63A-E94F3E75D58B}"/>
              </a:ext>
            </a:extLst>
          </p:cNvPr>
          <p:cNvSpPr>
            <a:spLocks noGrp="1"/>
          </p:cNvSpPr>
          <p:nvPr>
            <p:ph type="sldNum" sz="quarter" idx="12"/>
          </p:nvPr>
        </p:nvSpPr>
        <p:spPr/>
        <p:txBody>
          <a:bodyPr/>
          <a:lstStyle/>
          <a:p>
            <a:fld id="{50030A04-F7E4-3E4B-9633-650D11AB5897}" type="slidenum">
              <a:rPr lang="en-US" smtClean="0"/>
              <a:t>14</a:t>
            </a:fld>
            <a:endParaRPr lang="en-US"/>
          </a:p>
        </p:txBody>
      </p:sp>
    </p:spTree>
    <p:extLst>
      <p:ext uri="{BB962C8B-B14F-4D97-AF65-F5344CB8AC3E}">
        <p14:creationId xmlns:p14="http://schemas.microsoft.com/office/powerpoint/2010/main" val="920648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354E-B8B4-E197-3075-0C14CE943BA4}"/>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8BEBADE8-7558-240A-A370-229F6AD0266F}"/>
              </a:ext>
            </a:extLst>
          </p:cNvPr>
          <p:cNvSpPr>
            <a:spLocks noGrp="1"/>
          </p:cNvSpPr>
          <p:nvPr>
            <p:ph idx="1"/>
          </p:nvPr>
        </p:nvSpPr>
        <p:spPr/>
        <p:txBody>
          <a:bodyPr>
            <a:normAutofit/>
          </a:bodyPr>
          <a:lstStyle/>
          <a:p>
            <a:pPr marL="0" indent="0">
              <a:buNone/>
            </a:pPr>
            <a:r>
              <a:rPr lang="en-US" sz="3200" i="1" dirty="0"/>
              <a:t>A</a:t>
            </a:r>
            <a:r>
              <a:rPr lang="en-US" sz="3200" dirty="0"/>
              <a:t>ccord each a length and a degree on the institutional compass circle – indicating a quality direction.</a:t>
            </a:r>
          </a:p>
          <a:p>
            <a:pPr marL="0" indent="0">
              <a:buNone/>
            </a:pPr>
            <a:r>
              <a:rPr lang="en-US" sz="3200" dirty="0"/>
              <a:t>We need to be very careful here. We are </a:t>
            </a:r>
            <a:r>
              <a:rPr lang="en-US" sz="3200" dirty="0" err="1"/>
              <a:t>analysing</a:t>
            </a:r>
            <a:r>
              <a:rPr lang="en-US" sz="3200" dirty="0"/>
              <a:t> environmental data. We </a:t>
            </a:r>
            <a:r>
              <a:rPr lang="en-US" sz="3200" i="1" dirty="0"/>
              <a:t>should</a:t>
            </a:r>
            <a:r>
              <a:rPr lang="en-US" sz="3200" dirty="0"/>
              <a:t> </a:t>
            </a:r>
            <a:r>
              <a:rPr lang="en-US" sz="3200" dirty="0" err="1"/>
              <a:t>analyse</a:t>
            </a:r>
            <a:r>
              <a:rPr lang="en-US" sz="3200" dirty="0"/>
              <a:t> it scientifically – with respect to health of the ecosystem, not human preferences. </a:t>
            </a:r>
          </a:p>
          <a:p>
            <a:pPr marL="0" indent="0">
              <a:buNone/>
            </a:pPr>
            <a:r>
              <a:rPr lang="en-US" sz="3200" dirty="0"/>
              <a:t>For example, air quality data is usually measured in terms of air quality for humans, not for birds or insects. Here we want air quality for insects. We have to ask biologists to help us. </a:t>
            </a:r>
          </a:p>
        </p:txBody>
      </p:sp>
      <p:sp>
        <p:nvSpPr>
          <p:cNvPr id="4" name="Footer Placeholder 3">
            <a:extLst>
              <a:ext uri="{FF2B5EF4-FFF2-40B4-BE49-F238E27FC236}">
                <a16:creationId xmlns:a16="http://schemas.microsoft.com/office/drawing/2014/main" id="{2127552F-205D-4B90-26C0-52020D3D50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97577B-02C9-9DE3-3A90-D280B9423AC5}"/>
              </a:ext>
            </a:extLst>
          </p:cNvPr>
          <p:cNvSpPr>
            <a:spLocks noGrp="1"/>
          </p:cNvSpPr>
          <p:nvPr>
            <p:ph type="sldNum" sz="quarter" idx="12"/>
          </p:nvPr>
        </p:nvSpPr>
        <p:spPr/>
        <p:txBody>
          <a:bodyPr/>
          <a:lstStyle/>
          <a:p>
            <a:fld id="{50030A04-F7E4-3E4B-9633-650D11AB5897}" type="slidenum">
              <a:rPr lang="en-US" smtClean="0"/>
              <a:t>15</a:t>
            </a:fld>
            <a:endParaRPr lang="en-US"/>
          </a:p>
        </p:txBody>
      </p:sp>
    </p:spTree>
    <p:extLst>
      <p:ext uri="{BB962C8B-B14F-4D97-AF65-F5344CB8AC3E}">
        <p14:creationId xmlns:p14="http://schemas.microsoft.com/office/powerpoint/2010/main" val="839342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2FB8D-7AED-2876-7D00-751257F57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9E661-1F3B-711E-EF31-9B04CF987E99}"/>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A008DE9D-4D0E-217E-DA58-14B2859D8784}"/>
              </a:ext>
            </a:extLst>
          </p:cNvPr>
          <p:cNvSpPr>
            <a:spLocks noGrp="1"/>
          </p:cNvSpPr>
          <p:nvPr>
            <p:ph idx="1"/>
          </p:nvPr>
        </p:nvSpPr>
        <p:spPr/>
        <p:txBody>
          <a:bodyPr>
            <a:normAutofit fontScale="92500" lnSpcReduction="10000"/>
          </a:bodyPr>
          <a:lstStyle/>
          <a:p>
            <a:pPr marL="0" indent="0">
              <a:buNone/>
            </a:pPr>
            <a:r>
              <a:rPr lang="en-US" sz="3200" u="sng" dirty="0"/>
              <a:t>Length</a:t>
            </a:r>
          </a:p>
          <a:p>
            <a:pPr marL="0" indent="0">
              <a:buNone/>
            </a:pPr>
            <a:r>
              <a:rPr lang="en-US" sz="3200" dirty="0"/>
              <a:t>Each data point is compared to a baseline – of what is “normal”. The latter is determined over time if you have done some indicator data collection over time, or across eco-systems that are similar (same mix of species in another location).</a:t>
            </a:r>
          </a:p>
          <a:p>
            <a:pPr marL="0" indent="0">
              <a:buNone/>
            </a:pPr>
            <a:r>
              <a:rPr lang="en-US" sz="3200" dirty="0"/>
              <a:t>Score this on a scale of 0 – 10. </a:t>
            </a:r>
          </a:p>
          <a:p>
            <a:pPr marL="0" indent="0">
              <a:buNone/>
            </a:pPr>
            <a:r>
              <a:rPr lang="en-US" sz="3200" dirty="0"/>
              <a:t>0 is non-existent.</a:t>
            </a:r>
          </a:p>
          <a:p>
            <a:pPr marL="0" indent="0">
              <a:buNone/>
            </a:pPr>
            <a:r>
              <a:rPr lang="en-US" sz="3200" dirty="0"/>
              <a:t>5 is average for that ecosystem. </a:t>
            </a:r>
          </a:p>
          <a:p>
            <a:pPr marL="0" indent="0">
              <a:buNone/>
            </a:pPr>
            <a:r>
              <a:rPr lang="en-US" sz="3200" dirty="0"/>
              <a:t>10 is extreme.</a:t>
            </a:r>
          </a:p>
        </p:txBody>
      </p:sp>
      <p:sp>
        <p:nvSpPr>
          <p:cNvPr id="4" name="Footer Placeholder 3">
            <a:extLst>
              <a:ext uri="{FF2B5EF4-FFF2-40B4-BE49-F238E27FC236}">
                <a16:creationId xmlns:a16="http://schemas.microsoft.com/office/drawing/2014/main" id="{97E22DE6-9E07-D541-C195-6F5F10020C2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7325F15-EA2C-EC64-EF5D-3D0A6F8A3BE5}"/>
              </a:ext>
            </a:extLst>
          </p:cNvPr>
          <p:cNvSpPr>
            <a:spLocks noGrp="1"/>
          </p:cNvSpPr>
          <p:nvPr>
            <p:ph type="sldNum" sz="quarter" idx="12"/>
          </p:nvPr>
        </p:nvSpPr>
        <p:spPr/>
        <p:txBody>
          <a:bodyPr/>
          <a:lstStyle/>
          <a:p>
            <a:fld id="{50030A04-F7E4-3E4B-9633-650D11AB5897}" type="slidenum">
              <a:rPr lang="en-US" smtClean="0"/>
              <a:t>16</a:t>
            </a:fld>
            <a:endParaRPr lang="en-US"/>
          </a:p>
        </p:txBody>
      </p:sp>
    </p:spTree>
    <p:extLst>
      <p:ext uri="{BB962C8B-B14F-4D97-AF65-F5344CB8AC3E}">
        <p14:creationId xmlns:p14="http://schemas.microsoft.com/office/powerpoint/2010/main" val="972196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9595C-2C2E-997D-053A-9F3B3D594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8C45A7-2099-3162-F891-1EEE46797976}"/>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EC73DCA7-DE65-9C12-839E-2D4D899FF5CD}"/>
              </a:ext>
            </a:extLst>
          </p:cNvPr>
          <p:cNvSpPr>
            <a:spLocks noGrp="1"/>
          </p:cNvSpPr>
          <p:nvPr>
            <p:ph idx="1"/>
          </p:nvPr>
        </p:nvSpPr>
        <p:spPr/>
        <p:txBody>
          <a:bodyPr>
            <a:normAutofit/>
          </a:bodyPr>
          <a:lstStyle/>
          <a:p>
            <a:pPr marL="0" indent="0">
              <a:buNone/>
            </a:pPr>
            <a:r>
              <a:rPr lang="en-US" sz="3200" u="sng" dirty="0"/>
              <a:t>Length</a:t>
            </a:r>
          </a:p>
          <a:p>
            <a:pPr marL="0" indent="0">
              <a:buNone/>
            </a:pPr>
            <a:r>
              <a:rPr lang="en-US" sz="3200" dirty="0"/>
              <a:t>The length of each data point can be thought of as: where would you put it on the y-axis of a regular graph of the data? </a:t>
            </a:r>
          </a:p>
          <a:p>
            <a:pPr marL="0" indent="0">
              <a:buNone/>
            </a:pPr>
            <a:endParaRPr lang="en-US" sz="3200" u="sng" dirty="0"/>
          </a:p>
        </p:txBody>
      </p:sp>
      <p:sp>
        <p:nvSpPr>
          <p:cNvPr id="4" name="Footer Placeholder 3">
            <a:extLst>
              <a:ext uri="{FF2B5EF4-FFF2-40B4-BE49-F238E27FC236}">
                <a16:creationId xmlns:a16="http://schemas.microsoft.com/office/drawing/2014/main" id="{52289FE1-BEB6-DF31-657D-020FEFF2D8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D36DF2-83CE-A3A7-8DF6-53D18D1B3EC1}"/>
              </a:ext>
            </a:extLst>
          </p:cNvPr>
          <p:cNvSpPr>
            <a:spLocks noGrp="1"/>
          </p:cNvSpPr>
          <p:nvPr>
            <p:ph type="sldNum" sz="quarter" idx="12"/>
          </p:nvPr>
        </p:nvSpPr>
        <p:spPr/>
        <p:txBody>
          <a:bodyPr/>
          <a:lstStyle/>
          <a:p>
            <a:fld id="{50030A04-F7E4-3E4B-9633-650D11AB5897}" type="slidenum">
              <a:rPr lang="en-US" smtClean="0"/>
              <a:t>17</a:t>
            </a:fld>
            <a:endParaRPr lang="en-US"/>
          </a:p>
        </p:txBody>
      </p:sp>
      <p:cxnSp>
        <p:nvCxnSpPr>
          <p:cNvPr id="7" name="Straight Arrow Connector 6">
            <a:extLst>
              <a:ext uri="{FF2B5EF4-FFF2-40B4-BE49-F238E27FC236}">
                <a16:creationId xmlns:a16="http://schemas.microsoft.com/office/drawing/2014/main" id="{D4F46D26-6A76-8089-98A5-75CA4F513BEF}"/>
              </a:ext>
            </a:extLst>
          </p:cNvPr>
          <p:cNvCxnSpPr>
            <a:cxnSpLocks/>
          </p:cNvCxnSpPr>
          <p:nvPr/>
        </p:nvCxnSpPr>
        <p:spPr>
          <a:xfrm flipV="1">
            <a:off x="1342663" y="3541853"/>
            <a:ext cx="0" cy="196769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392CEF55-A71D-1B1F-CB33-6400C4D91276}"/>
              </a:ext>
            </a:extLst>
          </p:cNvPr>
          <p:cNvCxnSpPr>
            <a:cxnSpLocks/>
          </p:cNvCxnSpPr>
          <p:nvPr/>
        </p:nvCxnSpPr>
        <p:spPr>
          <a:xfrm>
            <a:off x="1342663" y="5509549"/>
            <a:ext cx="311812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Oval 11">
            <a:extLst>
              <a:ext uri="{FF2B5EF4-FFF2-40B4-BE49-F238E27FC236}">
                <a16:creationId xmlns:a16="http://schemas.microsoft.com/office/drawing/2014/main" id="{EF69DDB3-9A5F-5E21-5310-888B118B1857}"/>
              </a:ext>
            </a:extLst>
          </p:cNvPr>
          <p:cNvSpPr/>
          <p:nvPr/>
        </p:nvSpPr>
        <p:spPr>
          <a:xfrm>
            <a:off x="2164466" y="3981691"/>
            <a:ext cx="138896" cy="1620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0443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A24F-3727-D8C6-91E3-0F8B1A84E7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A9E80-3079-A307-3897-98F210E832A9}"/>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0A46D875-B483-E021-24A9-294539D214D8}"/>
              </a:ext>
            </a:extLst>
          </p:cNvPr>
          <p:cNvSpPr>
            <a:spLocks noGrp="1"/>
          </p:cNvSpPr>
          <p:nvPr>
            <p:ph idx="1"/>
          </p:nvPr>
        </p:nvSpPr>
        <p:spPr/>
        <p:txBody>
          <a:bodyPr>
            <a:normAutofit/>
          </a:bodyPr>
          <a:lstStyle/>
          <a:p>
            <a:pPr marL="0" indent="0">
              <a:buNone/>
            </a:pPr>
            <a:r>
              <a:rPr lang="en-US" sz="3200" u="sng" dirty="0"/>
              <a:t>Length</a:t>
            </a:r>
          </a:p>
          <a:p>
            <a:pPr marL="0" indent="0">
              <a:buNone/>
            </a:pPr>
            <a:r>
              <a:rPr lang="en-US" sz="3200" dirty="0"/>
              <a:t>For example </a:t>
            </a:r>
          </a:p>
          <a:p>
            <a:pPr marL="0" indent="0">
              <a:buNone/>
            </a:pPr>
            <a:endParaRPr lang="en-US" sz="3200" u="sng" dirty="0"/>
          </a:p>
        </p:txBody>
      </p:sp>
      <p:sp>
        <p:nvSpPr>
          <p:cNvPr id="4" name="Footer Placeholder 3">
            <a:extLst>
              <a:ext uri="{FF2B5EF4-FFF2-40B4-BE49-F238E27FC236}">
                <a16:creationId xmlns:a16="http://schemas.microsoft.com/office/drawing/2014/main" id="{53A2C1D3-F5F6-F79F-65CD-70F3D430BE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189421-DED6-429D-05E3-118F61DB6756}"/>
              </a:ext>
            </a:extLst>
          </p:cNvPr>
          <p:cNvSpPr>
            <a:spLocks noGrp="1"/>
          </p:cNvSpPr>
          <p:nvPr>
            <p:ph type="sldNum" sz="quarter" idx="12"/>
          </p:nvPr>
        </p:nvSpPr>
        <p:spPr/>
        <p:txBody>
          <a:bodyPr/>
          <a:lstStyle/>
          <a:p>
            <a:fld id="{50030A04-F7E4-3E4B-9633-650D11AB5897}" type="slidenum">
              <a:rPr lang="en-US" smtClean="0"/>
              <a:t>18</a:t>
            </a:fld>
            <a:endParaRPr lang="en-US"/>
          </a:p>
        </p:txBody>
      </p:sp>
      <p:pic>
        <p:nvPicPr>
          <p:cNvPr id="1026" name="Picture 2">
            <a:extLst>
              <a:ext uri="{FF2B5EF4-FFF2-40B4-BE49-F238E27FC236}">
                <a16:creationId xmlns:a16="http://schemas.microsoft.com/office/drawing/2014/main" id="{15B70C9E-8A3B-6FCD-39F8-B22481680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738" y="1164859"/>
            <a:ext cx="12192000" cy="487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811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F73E2-4724-4F6F-98BC-A1428FE82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A2EAB-DC48-87AB-5031-C34AB031C96D}"/>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B23E0A8F-9656-50EA-B52F-D784AB4F6BB3}"/>
              </a:ext>
            </a:extLst>
          </p:cNvPr>
          <p:cNvSpPr>
            <a:spLocks noGrp="1"/>
          </p:cNvSpPr>
          <p:nvPr>
            <p:ph idx="1"/>
          </p:nvPr>
        </p:nvSpPr>
        <p:spPr/>
        <p:txBody>
          <a:bodyPr>
            <a:normAutofit/>
          </a:bodyPr>
          <a:lstStyle/>
          <a:p>
            <a:pPr marL="0" indent="0">
              <a:buNone/>
            </a:pPr>
            <a:r>
              <a:rPr lang="en-US" sz="3200" u="sng" dirty="0"/>
              <a:t>Length</a:t>
            </a:r>
          </a:p>
          <a:p>
            <a:pPr marL="0" indent="0">
              <a:buNone/>
            </a:pPr>
            <a:r>
              <a:rPr lang="en-US" sz="3200" dirty="0"/>
              <a:t>For example:</a:t>
            </a:r>
          </a:p>
        </p:txBody>
      </p:sp>
      <p:sp>
        <p:nvSpPr>
          <p:cNvPr id="4" name="Footer Placeholder 3">
            <a:extLst>
              <a:ext uri="{FF2B5EF4-FFF2-40B4-BE49-F238E27FC236}">
                <a16:creationId xmlns:a16="http://schemas.microsoft.com/office/drawing/2014/main" id="{AF90E3D6-ECC0-FEFA-CD71-9D2A54A168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5C079E-5DF1-5D73-D6E3-9265816EA240}"/>
              </a:ext>
            </a:extLst>
          </p:cNvPr>
          <p:cNvSpPr>
            <a:spLocks noGrp="1"/>
          </p:cNvSpPr>
          <p:nvPr>
            <p:ph type="sldNum" sz="quarter" idx="12"/>
          </p:nvPr>
        </p:nvSpPr>
        <p:spPr/>
        <p:txBody>
          <a:bodyPr/>
          <a:lstStyle/>
          <a:p>
            <a:fld id="{50030A04-F7E4-3E4B-9633-650D11AB5897}" type="slidenum">
              <a:rPr lang="en-US" smtClean="0"/>
              <a:t>19</a:t>
            </a:fld>
            <a:endParaRPr lang="en-US"/>
          </a:p>
        </p:txBody>
      </p:sp>
      <p:pic>
        <p:nvPicPr>
          <p:cNvPr id="2050" name="Picture 2">
            <a:extLst>
              <a:ext uri="{FF2B5EF4-FFF2-40B4-BE49-F238E27FC236}">
                <a16:creationId xmlns:a16="http://schemas.microsoft.com/office/drawing/2014/main" id="{64F7C936-8B98-F9CE-66B4-7BFF3BA31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8713"/>
            <a:ext cx="12192000" cy="4600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3857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4DE51-49FF-9E06-CECC-AC25A6B0A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BBC79-F2E1-3960-AF2B-3FCDA8B69481}"/>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3D9B495F-C46B-3D87-9704-B2F2ECD39FAB}"/>
              </a:ext>
            </a:extLst>
          </p:cNvPr>
          <p:cNvSpPr>
            <a:spLocks noGrp="1"/>
          </p:cNvSpPr>
          <p:nvPr>
            <p:ph idx="1"/>
          </p:nvPr>
        </p:nvSpPr>
        <p:spPr/>
        <p:txBody>
          <a:bodyPr>
            <a:normAutofit/>
          </a:bodyPr>
          <a:lstStyle/>
          <a:p>
            <a:pPr marL="0" indent="0">
              <a:buNone/>
            </a:pPr>
            <a:r>
              <a:rPr lang="en-US" sz="3200" u="sng" dirty="0"/>
              <a:t>Degrees: Harmony</a:t>
            </a:r>
          </a:p>
          <a:p>
            <a:pPr marL="0" indent="0">
              <a:buNone/>
            </a:pPr>
            <a:r>
              <a:rPr lang="en-US" sz="3200" dirty="0"/>
              <a:t>Harmony for the environment means a healthy ecology – for that region : good/ normal bio-diversity, no changes in quality of non-living environment, no changes in biodiversity, no adaptive changes in existing species – over as long a time-span as ??? What is reasonable? We should decide this for our regions.</a:t>
            </a:r>
          </a:p>
        </p:txBody>
      </p:sp>
      <p:sp>
        <p:nvSpPr>
          <p:cNvPr id="4" name="Footer Placeholder 3">
            <a:extLst>
              <a:ext uri="{FF2B5EF4-FFF2-40B4-BE49-F238E27FC236}">
                <a16:creationId xmlns:a16="http://schemas.microsoft.com/office/drawing/2014/main" id="{45757B9E-0003-7883-5A12-6EBFEFCBB4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095911-EBBA-9F31-37CA-5485446B6EB8}"/>
              </a:ext>
            </a:extLst>
          </p:cNvPr>
          <p:cNvSpPr>
            <a:spLocks noGrp="1"/>
          </p:cNvSpPr>
          <p:nvPr>
            <p:ph type="sldNum" sz="quarter" idx="12"/>
          </p:nvPr>
        </p:nvSpPr>
        <p:spPr/>
        <p:txBody>
          <a:bodyPr/>
          <a:lstStyle/>
          <a:p>
            <a:fld id="{50030A04-F7E4-3E4B-9633-650D11AB5897}" type="slidenum">
              <a:rPr lang="en-US" smtClean="0"/>
              <a:t>20</a:t>
            </a:fld>
            <a:endParaRPr lang="en-US"/>
          </a:p>
        </p:txBody>
      </p:sp>
    </p:spTree>
    <p:extLst>
      <p:ext uri="{BB962C8B-B14F-4D97-AF65-F5344CB8AC3E}">
        <p14:creationId xmlns:p14="http://schemas.microsoft.com/office/powerpoint/2010/main" val="2065815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AD96-CE0C-B97B-3B3F-5E5ED8EE2B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B5348-88C6-6BFB-A4E2-2997C8AA45B0}"/>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473FA396-FEE2-0BF3-8A4D-AC8BD4C13D1F}"/>
              </a:ext>
            </a:extLst>
          </p:cNvPr>
          <p:cNvSpPr>
            <a:spLocks noGrp="1"/>
          </p:cNvSpPr>
          <p:nvPr>
            <p:ph idx="1"/>
          </p:nvPr>
        </p:nvSpPr>
        <p:spPr/>
        <p:txBody>
          <a:bodyPr>
            <a:normAutofit/>
          </a:bodyPr>
          <a:lstStyle/>
          <a:p>
            <a:pPr marL="0" indent="0">
              <a:buNone/>
            </a:pPr>
            <a:r>
              <a:rPr lang="en-US" sz="3200" u="sng" dirty="0"/>
              <a:t>Degrees: Harmony</a:t>
            </a:r>
          </a:p>
          <a:p>
            <a:pPr marL="0" indent="0">
              <a:buNone/>
            </a:pPr>
            <a:r>
              <a:rPr lang="en-US" sz="3200" dirty="0"/>
              <a:t>With 0 as the degree between Excitement and Harmony, and 120 as the degree between Harmony and Discipline, </a:t>
            </a:r>
          </a:p>
          <a:p>
            <a:pPr marL="0" indent="0">
              <a:buNone/>
            </a:pPr>
            <a:endParaRPr lang="en-US" sz="3200" dirty="0"/>
          </a:p>
        </p:txBody>
      </p:sp>
      <p:sp>
        <p:nvSpPr>
          <p:cNvPr id="4" name="Footer Placeholder 3">
            <a:extLst>
              <a:ext uri="{FF2B5EF4-FFF2-40B4-BE49-F238E27FC236}">
                <a16:creationId xmlns:a16="http://schemas.microsoft.com/office/drawing/2014/main" id="{406AB790-6997-53CA-EFCA-6CE7C92657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F437987-D2AE-E0CB-38AE-9B2967CAAC27}"/>
              </a:ext>
            </a:extLst>
          </p:cNvPr>
          <p:cNvSpPr>
            <a:spLocks noGrp="1"/>
          </p:cNvSpPr>
          <p:nvPr>
            <p:ph type="sldNum" sz="quarter" idx="12"/>
          </p:nvPr>
        </p:nvSpPr>
        <p:spPr/>
        <p:txBody>
          <a:bodyPr/>
          <a:lstStyle/>
          <a:p>
            <a:fld id="{50030A04-F7E4-3E4B-9633-650D11AB5897}" type="slidenum">
              <a:rPr lang="en-US" smtClean="0"/>
              <a:t>21</a:t>
            </a:fld>
            <a:endParaRPr lang="en-US"/>
          </a:p>
        </p:txBody>
      </p:sp>
      <p:graphicFrame>
        <p:nvGraphicFramePr>
          <p:cNvPr id="6" name="Content Placeholder 10">
            <a:extLst>
              <a:ext uri="{FF2B5EF4-FFF2-40B4-BE49-F238E27FC236}">
                <a16:creationId xmlns:a16="http://schemas.microsoft.com/office/drawing/2014/main" id="{1598294E-D64E-4CD3-4CC9-B4C05D99CA98}"/>
              </a:ext>
            </a:extLst>
          </p:cNvPr>
          <p:cNvGraphicFramePr>
            <a:graphicFrameLocks/>
          </p:cNvGraphicFramePr>
          <p:nvPr>
            <p:extLst>
              <p:ext uri="{D42A27DB-BD31-4B8C-83A1-F6EECF244321}">
                <p14:modId xmlns:p14="http://schemas.microsoft.com/office/powerpoint/2010/main" val="2608065582"/>
              </p:ext>
            </p:extLst>
          </p:nvPr>
        </p:nvGraphicFramePr>
        <p:xfrm>
          <a:off x="1307939" y="3345083"/>
          <a:ext cx="9005104" cy="30112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31277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371A3-35CD-BC14-FB3F-D7F558177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B56A3-BDDA-E723-BA4F-A119DC5293D2}"/>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BD307697-0201-B0D9-C58D-F2296428D744}"/>
              </a:ext>
            </a:extLst>
          </p:cNvPr>
          <p:cNvSpPr>
            <a:spLocks noGrp="1"/>
          </p:cNvSpPr>
          <p:nvPr>
            <p:ph idx="1"/>
          </p:nvPr>
        </p:nvSpPr>
        <p:spPr/>
        <p:txBody>
          <a:bodyPr>
            <a:normAutofit lnSpcReduction="10000"/>
          </a:bodyPr>
          <a:lstStyle/>
          <a:p>
            <a:pPr marL="0" indent="0">
              <a:buNone/>
            </a:pPr>
            <a:r>
              <a:rPr lang="en-US" sz="3200" u="sng" dirty="0"/>
              <a:t>Degrees: Harmony</a:t>
            </a:r>
          </a:p>
          <a:p>
            <a:pPr marL="0" indent="0">
              <a:buNone/>
            </a:pPr>
            <a:r>
              <a:rPr lang="en-US" sz="3200" dirty="0"/>
              <a:t>Degrees within harmony but towards excitement are for changes and adaptations </a:t>
            </a:r>
            <a:r>
              <a:rPr lang="en-US" sz="3200" i="1" dirty="0"/>
              <a:t>within</a:t>
            </a:r>
            <a:r>
              <a:rPr lang="en-US" sz="3200" dirty="0"/>
              <a:t> the normal population. Such as 400 year cold cycles, or “normal” forest fire cycles, flooding cycles… </a:t>
            </a:r>
          </a:p>
          <a:p>
            <a:pPr marL="0" indent="0">
              <a:buNone/>
            </a:pPr>
            <a:r>
              <a:rPr lang="en-US" sz="3200" dirty="0"/>
              <a:t>Degrees within harmony but towards discipline are for changes that threaten ecosystem collapse i.e., for the ecologists, alarm bells are going off: shrinking populations of indicator species… The ecosystem is being stressed, but could still recover. </a:t>
            </a:r>
          </a:p>
          <a:p>
            <a:pPr marL="0" indent="0">
              <a:buNone/>
            </a:pPr>
            <a:endParaRPr lang="en-US" sz="3200" dirty="0"/>
          </a:p>
        </p:txBody>
      </p:sp>
      <p:sp>
        <p:nvSpPr>
          <p:cNvPr id="4" name="Footer Placeholder 3">
            <a:extLst>
              <a:ext uri="{FF2B5EF4-FFF2-40B4-BE49-F238E27FC236}">
                <a16:creationId xmlns:a16="http://schemas.microsoft.com/office/drawing/2014/main" id="{205D3598-1F8A-C984-CDF2-580603CDB7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76D6EF8-1875-0CFB-C2F5-C6C6BCE03950}"/>
              </a:ext>
            </a:extLst>
          </p:cNvPr>
          <p:cNvSpPr>
            <a:spLocks noGrp="1"/>
          </p:cNvSpPr>
          <p:nvPr>
            <p:ph type="sldNum" sz="quarter" idx="12"/>
          </p:nvPr>
        </p:nvSpPr>
        <p:spPr/>
        <p:txBody>
          <a:bodyPr/>
          <a:lstStyle/>
          <a:p>
            <a:fld id="{50030A04-F7E4-3E4B-9633-650D11AB5897}" type="slidenum">
              <a:rPr lang="en-US" smtClean="0"/>
              <a:t>22</a:t>
            </a:fld>
            <a:endParaRPr lang="en-US"/>
          </a:p>
        </p:txBody>
      </p:sp>
    </p:spTree>
    <p:extLst>
      <p:ext uri="{BB962C8B-B14F-4D97-AF65-F5344CB8AC3E}">
        <p14:creationId xmlns:p14="http://schemas.microsoft.com/office/powerpoint/2010/main" val="3872701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69C85-2F3C-CEDB-6B9F-3E3EBD01D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49738-91EC-CC58-7866-626BD18608D2}"/>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89C93EC5-83A7-A716-B125-59385BC10A7E}"/>
              </a:ext>
            </a:extLst>
          </p:cNvPr>
          <p:cNvSpPr>
            <a:spLocks noGrp="1"/>
          </p:cNvSpPr>
          <p:nvPr>
            <p:ph idx="1"/>
          </p:nvPr>
        </p:nvSpPr>
        <p:spPr>
          <a:xfrm>
            <a:off x="838200" y="1316182"/>
            <a:ext cx="10515600" cy="4860781"/>
          </a:xfrm>
        </p:spPr>
        <p:txBody>
          <a:bodyPr>
            <a:normAutofit/>
          </a:bodyPr>
          <a:lstStyle/>
          <a:p>
            <a:pPr marL="0" indent="0">
              <a:buNone/>
            </a:pPr>
            <a:r>
              <a:rPr lang="en-US" sz="3200" u="sng" dirty="0"/>
              <a:t>Degrees: Discipline 120 - 240</a:t>
            </a:r>
          </a:p>
          <a:p>
            <a:pPr marL="0" indent="0">
              <a:buNone/>
            </a:pPr>
            <a:r>
              <a:rPr lang="en-US" sz="3200" dirty="0"/>
              <a:t>Decline in the density of: trees, bushes, grasses, insects, worms… birds, aquaculture, rodents, reptiles, mammals… </a:t>
            </a:r>
          </a:p>
          <a:p>
            <a:pPr marL="0" indent="0">
              <a:buNone/>
            </a:pPr>
            <a:r>
              <a:rPr lang="en-US" sz="3200" dirty="0"/>
              <a:t>Local extinction or threat of extinction.</a:t>
            </a:r>
          </a:p>
          <a:p>
            <a:pPr marL="0" indent="0">
              <a:buNone/>
            </a:pPr>
            <a:r>
              <a:rPr lang="en-US" sz="3200" dirty="0"/>
              <a:t>“New species” invasive species are an indicator of ecosystem collapse - monitor their population density, and ask what role they play in the eco</a:t>
            </a:r>
            <a:r>
              <a:rPr lang="en-US" sz="3200" i="1" dirty="0"/>
              <a:t>system. </a:t>
            </a:r>
            <a:r>
              <a:rPr lang="en-US" sz="3200" dirty="0"/>
              <a:t> </a:t>
            </a:r>
          </a:p>
          <a:p>
            <a:pPr marL="0" indent="0">
              <a:buNone/>
            </a:pPr>
            <a:endParaRPr lang="en-US" sz="3200" dirty="0"/>
          </a:p>
          <a:p>
            <a:pPr marL="0" indent="0">
              <a:buNone/>
            </a:pPr>
            <a:endParaRPr lang="en-US" sz="3200" dirty="0"/>
          </a:p>
        </p:txBody>
      </p:sp>
      <p:sp>
        <p:nvSpPr>
          <p:cNvPr id="4" name="Footer Placeholder 3">
            <a:extLst>
              <a:ext uri="{FF2B5EF4-FFF2-40B4-BE49-F238E27FC236}">
                <a16:creationId xmlns:a16="http://schemas.microsoft.com/office/drawing/2014/main" id="{A296C6C4-AD87-5266-3B28-5DDFE5D305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5FE1A6-F6E4-AEF1-5D04-A7943CF24396}"/>
              </a:ext>
            </a:extLst>
          </p:cNvPr>
          <p:cNvSpPr>
            <a:spLocks noGrp="1"/>
          </p:cNvSpPr>
          <p:nvPr>
            <p:ph type="sldNum" sz="quarter" idx="12"/>
          </p:nvPr>
        </p:nvSpPr>
        <p:spPr/>
        <p:txBody>
          <a:bodyPr/>
          <a:lstStyle/>
          <a:p>
            <a:fld id="{50030A04-F7E4-3E4B-9633-650D11AB5897}" type="slidenum">
              <a:rPr lang="en-US" smtClean="0"/>
              <a:t>23</a:t>
            </a:fld>
            <a:endParaRPr lang="en-US"/>
          </a:p>
        </p:txBody>
      </p:sp>
    </p:spTree>
    <p:extLst>
      <p:ext uri="{BB962C8B-B14F-4D97-AF65-F5344CB8AC3E}">
        <p14:creationId xmlns:p14="http://schemas.microsoft.com/office/powerpoint/2010/main" val="3341939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FD551-7DBE-B846-F81F-087A4C815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C6A4B-B5DA-59A8-C1E7-46C40EE67D9E}"/>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A0575E34-1B51-A6C8-C20C-E220364818D7}"/>
              </a:ext>
            </a:extLst>
          </p:cNvPr>
          <p:cNvSpPr>
            <a:spLocks noGrp="1"/>
          </p:cNvSpPr>
          <p:nvPr>
            <p:ph idx="1"/>
          </p:nvPr>
        </p:nvSpPr>
        <p:spPr/>
        <p:txBody>
          <a:bodyPr>
            <a:normAutofit fontScale="92500"/>
          </a:bodyPr>
          <a:lstStyle/>
          <a:p>
            <a:pPr marL="0" indent="0">
              <a:buNone/>
            </a:pPr>
            <a:r>
              <a:rPr lang="en-US" sz="3200" u="sng" dirty="0"/>
              <a:t>Degrees: Discipline</a:t>
            </a:r>
          </a:p>
          <a:p>
            <a:pPr marL="0" indent="0">
              <a:buNone/>
            </a:pPr>
            <a:r>
              <a:rPr lang="en-US" sz="3200" dirty="0"/>
              <a:t>Air quality indicators: poor air quality </a:t>
            </a:r>
            <a:r>
              <a:rPr lang="en-US" sz="3200" i="1" dirty="0"/>
              <a:t>for the ecosystem</a:t>
            </a:r>
            <a:r>
              <a:rPr lang="en-US" sz="3200" dirty="0"/>
              <a:t>.</a:t>
            </a:r>
          </a:p>
          <a:p>
            <a:pPr marL="0" indent="0">
              <a:buNone/>
            </a:pPr>
            <a:r>
              <a:rPr lang="en-US" sz="3200" dirty="0"/>
              <a:t>Water quality indicators: poor water quality </a:t>
            </a:r>
            <a:r>
              <a:rPr lang="en-US" sz="3200" i="1" dirty="0"/>
              <a:t>for the ecosystem.</a:t>
            </a:r>
            <a:endParaRPr lang="en-US" sz="3200" dirty="0"/>
          </a:p>
          <a:p>
            <a:pPr marL="0" indent="0">
              <a:buNone/>
            </a:pPr>
            <a:r>
              <a:rPr lang="en-US" sz="3200" dirty="0"/>
              <a:t>Soil quality indicators: poor soil quality </a:t>
            </a:r>
            <a:r>
              <a:rPr lang="en-US" sz="3200" i="1" dirty="0"/>
              <a:t>for the ecosystem.</a:t>
            </a:r>
          </a:p>
          <a:p>
            <a:pPr marL="0" indent="0">
              <a:buNone/>
            </a:pPr>
            <a:r>
              <a:rPr lang="en-US" sz="3200" dirty="0"/>
              <a:t>Shrinking natural spaces, pollution, extreme drought, fires, heat…</a:t>
            </a:r>
          </a:p>
          <a:p>
            <a:pPr marL="0" indent="0">
              <a:buNone/>
            </a:pPr>
            <a:r>
              <a:rPr lang="en-US" sz="3200" dirty="0"/>
              <a:t>Extraction of minerals: (mining activities, quarries).</a:t>
            </a:r>
          </a:p>
          <a:p>
            <a:pPr marL="0" indent="0">
              <a:buNone/>
            </a:pPr>
            <a:r>
              <a:rPr lang="en-US" sz="3200" dirty="0"/>
              <a:t>Entropic change: More heat coming into the ecosystem than leaving.</a:t>
            </a:r>
          </a:p>
          <a:p>
            <a:pPr marL="0" indent="0">
              <a:buNone/>
            </a:pPr>
            <a:endParaRPr lang="en-US" sz="3200" dirty="0"/>
          </a:p>
          <a:p>
            <a:pPr marL="0" indent="0">
              <a:buNone/>
            </a:pPr>
            <a:endParaRPr lang="en-US" sz="3200" dirty="0"/>
          </a:p>
        </p:txBody>
      </p:sp>
      <p:sp>
        <p:nvSpPr>
          <p:cNvPr id="4" name="Footer Placeholder 3">
            <a:extLst>
              <a:ext uri="{FF2B5EF4-FFF2-40B4-BE49-F238E27FC236}">
                <a16:creationId xmlns:a16="http://schemas.microsoft.com/office/drawing/2014/main" id="{A756BC07-E7A4-86EF-267F-5938942C67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A321299-EABA-3821-13C7-B5A5C4B98086}"/>
              </a:ext>
            </a:extLst>
          </p:cNvPr>
          <p:cNvSpPr>
            <a:spLocks noGrp="1"/>
          </p:cNvSpPr>
          <p:nvPr>
            <p:ph type="sldNum" sz="quarter" idx="12"/>
          </p:nvPr>
        </p:nvSpPr>
        <p:spPr/>
        <p:txBody>
          <a:bodyPr/>
          <a:lstStyle/>
          <a:p>
            <a:fld id="{50030A04-F7E4-3E4B-9633-650D11AB5897}" type="slidenum">
              <a:rPr lang="en-US" smtClean="0"/>
              <a:t>24</a:t>
            </a:fld>
            <a:endParaRPr lang="en-US"/>
          </a:p>
        </p:txBody>
      </p:sp>
    </p:spTree>
    <p:extLst>
      <p:ext uri="{BB962C8B-B14F-4D97-AF65-F5344CB8AC3E}">
        <p14:creationId xmlns:p14="http://schemas.microsoft.com/office/powerpoint/2010/main" val="3596589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119AE-44CA-1C06-6822-9EA60B729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C218C-2C76-2226-F462-89AC3D6B5163}"/>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D9F1BE37-C587-82C7-DDBE-2F9C72680678}"/>
              </a:ext>
            </a:extLst>
          </p:cNvPr>
          <p:cNvSpPr>
            <a:spLocks noGrp="1"/>
          </p:cNvSpPr>
          <p:nvPr>
            <p:ph idx="1"/>
          </p:nvPr>
        </p:nvSpPr>
        <p:spPr/>
        <p:txBody>
          <a:bodyPr>
            <a:normAutofit fontScale="85000" lnSpcReduction="20000"/>
          </a:bodyPr>
          <a:lstStyle/>
          <a:p>
            <a:pPr marL="0" indent="0">
              <a:buNone/>
            </a:pPr>
            <a:r>
              <a:rPr lang="en-US" sz="3200" u="sng" dirty="0"/>
              <a:t>Degrees: Discipline</a:t>
            </a:r>
          </a:p>
          <a:p>
            <a:pPr marL="0" indent="0">
              <a:buNone/>
            </a:pPr>
            <a:r>
              <a:rPr lang="en-US" sz="3200" dirty="0"/>
              <a:t>Degrees within discipline but towards harmony are for there-stabilizing of the ecosystems. Once stabilized, they might move to harmony (depending on the baseline.  beginning of collapse – shrinking of a species beyond the point of recover (might be hard to guess). Or stresses to the ecosystem such as fires, drought, heat, extreme weather… </a:t>
            </a:r>
          </a:p>
          <a:p>
            <a:pPr marL="0" indent="0">
              <a:buNone/>
            </a:pPr>
            <a:r>
              <a:rPr lang="en-US" sz="3200" dirty="0"/>
              <a:t>180 degrees are for (local) extinctions, loss of habitat – cementing over, building; noise, light, heat, fires, drought, extreme weather… and chemical pollution. Human waste. The arrow for this is short if it is well managed!</a:t>
            </a:r>
          </a:p>
          <a:p>
            <a:pPr marL="0" indent="0">
              <a:buNone/>
            </a:pPr>
            <a:r>
              <a:rPr lang="en-US" sz="3200" dirty="0"/>
              <a:t>Degrees within discipline but towards excitement are for the new stresses to the ecosystem. </a:t>
            </a:r>
            <a:r>
              <a:rPr lang="en-US" sz="3200" dirty="0">
                <a:solidFill>
                  <a:srgbClr val="FF0000"/>
                </a:solidFill>
              </a:rPr>
              <a:t>Note: these measures are meant to be absolute – not relative to how much worse it would be if we were to do nothing. </a:t>
            </a:r>
          </a:p>
          <a:p>
            <a:pPr marL="0" indent="0">
              <a:buNone/>
            </a:pPr>
            <a:endParaRPr lang="en-US" sz="3200" dirty="0"/>
          </a:p>
        </p:txBody>
      </p:sp>
      <p:sp>
        <p:nvSpPr>
          <p:cNvPr id="4" name="Footer Placeholder 3">
            <a:extLst>
              <a:ext uri="{FF2B5EF4-FFF2-40B4-BE49-F238E27FC236}">
                <a16:creationId xmlns:a16="http://schemas.microsoft.com/office/drawing/2014/main" id="{A6E1CA38-3CF5-C09C-5033-C10477785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F2FFAE-E5F8-2397-DE40-ADF4F6E49E18}"/>
              </a:ext>
            </a:extLst>
          </p:cNvPr>
          <p:cNvSpPr>
            <a:spLocks noGrp="1"/>
          </p:cNvSpPr>
          <p:nvPr>
            <p:ph type="sldNum" sz="quarter" idx="12"/>
          </p:nvPr>
        </p:nvSpPr>
        <p:spPr/>
        <p:txBody>
          <a:bodyPr/>
          <a:lstStyle/>
          <a:p>
            <a:fld id="{50030A04-F7E4-3E4B-9633-650D11AB5897}" type="slidenum">
              <a:rPr lang="en-US" smtClean="0"/>
              <a:t>25</a:t>
            </a:fld>
            <a:endParaRPr lang="en-US"/>
          </a:p>
        </p:txBody>
      </p:sp>
    </p:spTree>
    <p:extLst>
      <p:ext uri="{BB962C8B-B14F-4D97-AF65-F5344CB8AC3E}">
        <p14:creationId xmlns:p14="http://schemas.microsoft.com/office/powerpoint/2010/main" val="3166790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2D57D-36D9-B037-D6CF-8C6F10DDB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B93D3-FBC2-9B9E-75FF-AA71EDF0F519}"/>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44D01BD9-B5EC-0B26-527A-AEA1B5AC3B8F}"/>
              </a:ext>
            </a:extLst>
          </p:cNvPr>
          <p:cNvSpPr>
            <a:spLocks noGrp="1"/>
          </p:cNvSpPr>
          <p:nvPr>
            <p:ph idx="1"/>
          </p:nvPr>
        </p:nvSpPr>
        <p:spPr/>
        <p:txBody>
          <a:bodyPr>
            <a:normAutofit/>
          </a:bodyPr>
          <a:lstStyle/>
          <a:p>
            <a:pPr marL="0" indent="0">
              <a:buNone/>
            </a:pPr>
            <a:r>
              <a:rPr lang="en-US" sz="3200" u="sng" dirty="0"/>
              <a:t>Degrees: Excitement</a:t>
            </a:r>
          </a:p>
          <a:p>
            <a:pPr marL="0" indent="0">
              <a:buNone/>
            </a:pPr>
            <a:r>
              <a:rPr lang="en-US" sz="3200" dirty="0"/>
              <a:t>Excitement is about changes to the environment – so this is our imposition on the environment to improve it (for it’s sake, or for us). The more it is for us – the closer it is to discipline. The more it is for the sake of the environment the closer to harmony. Conservation measures are in excitement when they are new (because still disruptive and changing) as the conservation are/ measures become integrated into the more natural ecosystem, the arrow will rotate into harmony. </a:t>
            </a:r>
          </a:p>
        </p:txBody>
      </p:sp>
      <p:sp>
        <p:nvSpPr>
          <p:cNvPr id="4" name="Footer Placeholder 3">
            <a:extLst>
              <a:ext uri="{FF2B5EF4-FFF2-40B4-BE49-F238E27FC236}">
                <a16:creationId xmlns:a16="http://schemas.microsoft.com/office/drawing/2014/main" id="{A9AC80F8-76B9-A680-B7C0-EBB5658A38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2D72FB-CA5C-8ACB-3E0B-F764BEB8DBDE}"/>
              </a:ext>
            </a:extLst>
          </p:cNvPr>
          <p:cNvSpPr>
            <a:spLocks noGrp="1"/>
          </p:cNvSpPr>
          <p:nvPr>
            <p:ph type="sldNum" sz="quarter" idx="12"/>
          </p:nvPr>
        </p:nvSpPr>
        <p:spPr/>
        <p:txBody>
          <a:bodyPr/>
          <a:lstStyle/>
          <a:p>
            <a:fld id="{50030A04-F7E4-3E4B-9633-650D11AB5897}" type="slidenum">
              <a:rPr lang="en-US" smtClean="0"/>
              <a:t>26</a:t>
            </a:fld>
            <a:endParaRPr lang="en-US"/>
          </a:p>
        </p:txBody>
      </p:sp>
    </p:spTree>
    <p:extLst>
      <p:ext uri="{BB962C8B-B14F-4D97-AF65-F5344CB8AC3E}">
        <p14:creationId xmlns:p14="http://schemas.microsoft.com/office/powerpoint/2010/main" val="11797469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289D2-547B-4E08-B033-1CA6F9A9A1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F995D3-DA59-B638-D611-D29526E288F4}"/>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02F38EC3-9278-43B4-D7E3-5D5B254C9893}"/>
              </a:ext>
            </a:extLst>
          </p:cNvPr>
          <p:cNvSpPr>
            <a:spLocks noGrp="1"/>
          </p:cNvSpPr>
          <p:nvPr>
            <p:ph idx="1"/>
          </p:nvPr>
        </p:nvSpPr>
        <p:spPr/>
        <p:txBody>
          <a:bodyPr>
            <a:normAutofit fontScale="92500"/>
          </a:bodyPr>
          <a:lstStyle/>
          <a:p>
            <a:pPr marL="0" indent="0">
              <a:buNone/>
            </a:pPr>
            <a:r>
              <a:rPr lang="en-US" sz="3200" u="sng" dirty="0"/>
              <a:t>Degrees: Excitement</a:t>
            </a:r>
          </a:p>
          <a:p>
            <a:pPr marL="0" indent="0">
              <a:buNone/>
            </a:pPr>
            <a:r>
              <a:rPr lang="en-US" sz="3200" dirty="0"/>
              <a:t>The building of dams, dikes, draining of swamps, changing the course of a waterway, effects of high walls (under water or on land), solar farms, wind farms… - </a:t>
            </a:r>
            <a:r>
              <a:rPr lang="en-US" sz="3200" dirty="0">
                <a:solidFill>
                  <a:srgbClr val="FF0000"/>
                </a:solidFill>
              </a:rPr>
              <a:t>note: we are looking in </a:t>
            </a:r>
            <a:r>
              <a:rPr lang="en-US" sz="3200" i="1" dirty="0">
                <a:solidFill>
                  <a:srgbClr val="FF0000"/>
                </a:solidFill>
              </a:rPr>
              <a:t>absolute</a:t>
            </a:r>
            <a:r>
              <a:rPr lang="en-US" sz="3200" dirty="0">
                <a:solidFill>
                  <a:srgbClr val="FF0000"/>
                </a:solidFill>
              </a:rPr>
              <a:t> terms about how this changes the natural environment – not a relative effect. The birds don’t survive better in absolute numbers because </a:t>
            </a:r>
            <a:r>
              <a:rPr lang="en-US" sz="3200" i="1" dirty="0">
                <a:solidFill>
                  <a:srgbClr val="FF0000"/>
                </a:solidFill>
              </a:rPr>
              <a:t>it could have been worse</a:t>
            </a:r>
            <a:r>
              <a:rPr lang="en-US" sz="3200" dirty="0">
                <a:solidFill>
                  <a:srgbClr val="FF0000"/>
                </a:solidFill>
              </a:rPr>
              <a:t>. The bird population continues to decrease, just at a slower pace. The arrow lengthens more slowly. So, careful about the difference between length and degree. This is the tricky conceptual part of the analysis. </a:t>
            </a:r>
          </a:p>
          <a:p>
            <a:pPr marL="0" indent="0">
              <a:buNone/>
            </a:pPr>
            <a:endParaRPr lang="en-US" sz="3200" dirty="0"/>
          </a:p>
        </p:txBody>
      </p:sp>
      <p:sp>
        <p:nvSpPr>
          <p:cNvPr id="4" name="Footer Placeholder 3">
            <a:extLst>
              <a:ext uri="{FF2B5EF4-FFF2-40B4-BE49-F238E27FC236}">
                <a16:creationId xmlns:a16="http://schemas.microsoft.com/office/drawing/2014/main" id="{737A0053-5141-E506-40E3-5BFFCDA724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A36EA1-2FD1-19C1-30E1-CD351ABCF9FC}"/>
              </a:ext>
            </a:extLst>
          </p:cNvPr>
          <p:cNvSpPr>
            <a:spLocks noGrp="1"/>
          </p:cNvSpPr>
          <p:nvPr>
            <p:ph type="sldNum" sz="quarter" idx="12"/>
          </p:nvPr>
        </p:nvSpPr>
        <p:spPr/>
        <p:txBody>
          <a:bodyPr/>
          <a:lstStyle/>
          <a:p>
            <a:fld id="{50030A04-F7E4-3E4B-9633-650D11AB5897}" type="slidenum">
              <a:rPr lang="en-US" smtClean="0"/>
              <a:t>27</a:t>
            </a:fld>
            <a:endParaRPr lang="en-US"/>
          </a:p>
        </p:txBody>
      </p:sp>
    </p:spTree>
    <p:extLst>
      <p:ext uri="{BB962C8B-B14F-4D97-AF65-F5344CB8AC3E}">
        <p14:creationId xmlns:p14="http://schemas.microsoft.com/office/powerpoint/2010/main" val="945803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969C6-1C5A-0AA6-3298-C018D1FCB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8D37-31B6-E4ED-1ED5-47B13E943B74}"/>
              </a:ext>
            </a:extLst>
          </p:cNvPr>
          <p:cNvSpPr>
            <a:spLocks noGrp="1"/>
          </p:cNvSpPr>
          <p:nvPr>
            <p:ph type="title"/>
          </p:nvPr>
        </p:nvSpPr>
        <p:spPr/>
        <p:txBody>
          <a:bodyPr>
            <a:normAutofit fontScale="90000"/>
          </a:bodyPr>
          <a:lstStyle/>
          <a:p>
            <a:pPr algn="ctr"/>
            <a:r>
              <a:rPr lang="en-US" dirty="0"/>
              <a:t>4. Environmental data – how do we </a:t>
            </a:r>
            <a:r>
              <a:rPr lang="en-US" dirty="0" err="1"/>
              <a:t>analyse</a:t>
            </a:r>
            <a:r>
              <a:rPr lang="en-US" dirty="0"/>
              <a:t> it? </a:t>
            </a:r>
            <a:br>
              <a:rPr lang="en-US" dirty="0"/>
            </a:br>
            <a:endParaRPr lang="en-US" dirty="0"/>
          </a:p>
        </p:txBody>
      </p:sp>
      <p:sp>
        <p:nvSpPr>
          <p:cNvPr id="3" name="Content Placeholder 2">
            <a:extLst>
              <a:ext uri="{FF2B5EF4-FFF2-40B4-BE49-F238E27FC236}">
                <a16:creationId xmlns:a16="http://schemas.microsoft.com/office/drawing/2014/main" id="{D0CD2EC7-A6E4-1408-E6B0-CFFA6771A723}"/>
              </a:ext>
            </a:extLst>
          </p:cNvPr>
          <p:cNvSpPr>
            <a:spLocks noGrp="1"/>
          </p:cNvSpPr>
          <p:nvPr>
            <p:ph idx="1"/>
          </p:nvPr>
        </p:nvSpPr>
        <p:spPr/>
        <p:txBody>
          <a:bodyPr>
            <a:normAutofit fontScale="92500" lnSpcReduction="10000"/>
          </a:bodyPr>
          <a:lstStyle/>
          <a:p>
            <a:pPr marL="0" indent="0">
              <a:buNone/>
            </a:pPr>
            <a:r>
              <a:rPr lang="en-US" sz="3200" u="sng" dirty="0"/>
              <a:t>Degrees: Excitement</a:t>
            </a:r>
          </a:p>
          <a:p>
            <a:pPr marL="0" indent="0">
              <a:buNone/>
            </a:pPr>
            <a:r>
              <a:rPr lang="en-US" sz="3200" dirty="0"/>
              <a:t>Agriculture: The more organic, circular (self-fertilizing) and native, the closer to harmony. The more industrial (genetic manipulation, pesticides, herbicides, synthetic </a:t>
            </a:r>
            <a:r>
              <a:rPr lang="en-US" sz="3200" dirty="0" err="1"/>
              <a:t>fertilisers</a:t>
            </a:r>
            <a:r>
              <a:rPr lang="en-US" sz="3200" dirty="0"/>
              <a:t>, heavy tractors, mono-culture, large fields, irrigation) the closer to discipline.</a:t>
            </a:r>
          </a:p>
          <a:p>
            <a:pPr marL="0" indent="0">
              <a:buNone/>
            </a:pPr>
            <a:r>
              <a:rPr lang="en-US" sz="3200" dirty="0"/>
              <a:t>Gardening: (length not significant if gardens do not use up a lot of land) the more biodiversity of </a:t>
            </a:r>
            <a:r>
              <a:rPr lang="en-US" sz="3200" i="1" dirty="0"/>
              <a:t>native </a:t>
            </a:r>
            <a:r>
              <a:rPr lang="en-US" sz="3200" dirty="0"/>
              <a:t>species, and the closer to the natural ecosystems, the more neglected (!) the closer to harmony; the more exotic species, invasive species, artificiality… the closer to discipline.</a:t>
            </a:r>
          </a:p>
        </p:txBody>
      </p:sp>
      <p:sp>
        <p:nvSpPr>
          <p:cNvPr id="4" name="Footer Placeholder 3">
            <a:extLst>
              <a:ext uri="{FF2B5EF4-FFF2-40B4-BE49-F238E27FC236}">
                <a16:creationId xmlns:a16="http://schemas.microsoft.com/office/drawing/2014/main" id="{1464CF8A-BDFB-6631-60B5-16BE7B3E51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71E76E-5E3B-32C0-F999-A4ADEDF6B7EA}"/>
              </a:ext>
            </a:extLst>
          </p:cNvPr>
          <p:cNvSpPr>
            <a:spLocks noGrp="1"/>
          </p:cNvSpPr>
          <p:nvPr>
            <p:ph type="sldNum" sz="quarter" idx="12"/>
          </p:nvPr>
        </p:nvSpPr>
        <p:spPr/>
        <p:txBody>
          <a:bodyPr/>
          <a:lstStyle/>
          <a:p>
            <a:fld id="{50030A04-F7E4-3E4B-9633-650D11AB5897}" type="slidenum">
              <a:rPr lang="en-US" smtClean="0"/>
              <a:t>28</a:t>
            </a:fld>
            <a:endParaRPr lang="en-US"/>
          </a:p>
        </p:txBody>
      </p:sp>
    </p:spTree>
    <p:extLst>
      <p:ext uri="{BB962C8B-B14F-4D97-AF65-F5344CB8AC3E}">
        <p14:creationId xmlns:p14="http://schemas.microsoft.com/office/powerpoint/2010/main" val="2649920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447BF-5E5F-672D-DAF1-FCB016ED012A}"/>
              </a:ext>
            </a:extLst>
          </p:cNvPr>
          <p:cNvSpPr>
            <a:spLocks noGrp="1"/>
          </p:cNvSpPr>
          <p:nvPr>
            <p:ph type="title"/>
          </p:nvPr>
        </p:nvSpPr>
        <p:spPr/>
        <p:txBody>
          <a:bodyPr/>
          <a:lstStyle/>
          <a:p>
            <a:pPr algn="ctr"/>
            <a:r>
              <a:rPr lang="en-US" dirty="0"/>
              <a:t>Homework: The Region you chose</a:t>
            </a:r>
          </a:p>
        </p:txBody>
      </p:sp>
      <p:sp>
        <p:nvSpPr>
          <p:cNvPr id="3" name="Content Placeholder 2">
            <a:extLst>
              <a:ext uri="{FF2B5EF4-FFF2-40B4-BE49-F238E27FC236}">
                <a16:creationId xmlns:a16="http://schemas.microsoft.com/office/drawing/2014/main" id="{5D765FE4-F51F-B7A6-0EA9-9D6D723BECDE}"/>
              </a:ext>
            </a:extLst>
          </p:cNvPr>
          <p:cNvSpPr>
            <a:spLocks noGrp="1"/>
          </p:cNvSpPr>
          <p:nvPr>
            <p:ph idx="1"/>
          </p:nvPr>
        </p:nvSpPr>
        <p:spPr/>
        <p:txBody>
          <a:bodyPr/>
          <a:lstStyle/>
          <a:p>
            <a:pPr marL="0" indent="0">
              <a:buNone/>
            </a:pPr>
            <a:r>
              <a:rPr lang="en-US" dirty="0"/>
              <a:t>Those of you assigned the technological fix essay bring in 2 data points that are for the environment that are in excitement in your region.</a:t>
            </a:r>
          </a:p>
          <a:p>
            <a:pPr marL="0" indent="0">
              <a:buNone/>
            </a:pPr>
            <a:r>
              <a:rPr lang="en-US" dirty="0"/>
              <a:t>Those of you assigned the cultural fix essay bring in 3 data points for the environment that are in harmony in your region.</a:t>
            </a:r>
          </a:p>
          <a:p>
            <a:pPr marL="0" indent="0">
              <a:buNone/>
            </a:pPr>
            <a:r>
              <a:rPr lang="en-US" dirty="0"/>
              <a:t>Those of you assigned the economic fix essay bring in 3 data points for the environment that are in discipline in your region.</a:t>
            </a:r>
          </a:p>
          <a:p>
            <a:pPr marL="0" indent="0">
              <a:buNone/>
            </a:pPr>
            <a:r>
              <a:rPr lang="en-US" dirty="0"/>
              <a:t>For each of your data points assign it a degree and a length. As a baseline for the length take the surrounding regions… Justify your assignment of degree and length. </a:t>
            </a:r>
          </a:p>
          <a:p>
            <a:pPr marL="0" indent="0">
              <a:buNone/>
            </a:pPr>
            <a:endParaRPr lang="en-US" dirty="0"/>
          </a:p>
        </p:txBody>
      </p:sp>
      <p:sp>
        <p:nvSpPr>
          <p:cNvPr id="4" name="Footer Placeholder 3">
            <a:extLst>
              <a:ext uri="{FF2B5EF4-FFF2-40B4-BE49-F238E27FC236}">
                <a16:creationId xmlns:a16="http://schemas.microsoft.com/office/drawing/2014/main" id="{7DB710AA-B1AD-0E2E-1330-5931189FCB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E83811-5E38-2CEF-0D5D-1C4DC9AFD06E}"/>
              </a:ext>
            </a:extLst>
          </p:cNvPr>
          <p:cNvSpPr>
            <a:spLocks noGrp="1"/>
          </p:cNvSpPr>
          <p:nvPr>
            <p:ph type="sldNum" sz="quarter" idx="12"/>
          </p:nvPr>
        </p:nvSpPr>
        <p:spPr/>
        <p:txBody>
          <a:bodyPr/>
          <a:lstStyle/>
          <a:p>
            <a:fld id="{50030A04-F7E4-3E4B-9633-650D11AB5897}" type="slidenum">
              <a:rPr lang="en-US" smtClean="0"/>
              <a:t>29</a:t>
            </a:fld>
            <a:endParaRPr lang="en-US"/>
          </a:p>
        </p:txBody>
      </p:sp>
    </p:spTree>
    <p:extLst>
      <p:ext uri="{BB962C8B-B14F-4D97-AF65-F5344CB8AC3E}">
        <p14:creationId xmlns:p14="http://schemas.microsoft.com/office/powerpoint/2010/main" val="3470146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96FEE-4909-5CF6-58F7-E22D84687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187B2-B1A8-C032-762C-73A9957F3221}"/>
              </a:ext>
            </a:extLst>
          </p:cNvPr>
          <p:cNvSpPr>
            <a:spLocks noGrp="1"/>
          </p:cNvSpPr>
          <p:nvPr>
            <p:ph type="title"/>
          </p:nvPr>
        </p:nvSpPr>
        <p:spPr/>
        <p:txBody>
          <a:bodyPr/>
          <a:lstStyle/>
          <a:p>
            <a:pPr algn="ctr"/>
            <a:r>
              <a:rPr lang="en-US" dirty="0"/>
              <a:t>Homework: The Region you chose</a:t>
            </a:r>
          </a:p>
        </p:txBody>
      </p:sp>
      <p:sp>
        <p:nvSpPr>
          <p:cNvPr id="3" name="Content Placeholder 2">
            <a:extLst>
              <a:ext uri="{FF2B5EF4-FFF2-40B4-BE49-F238E27FC236}">
                <a16:creationId xmlns:a16="http://schemas.microsoft.com/office/drawing/2014/main" id="{BE919BEE-80EB-4D6A-6F46-35367E07B350}"/>
              </a:ext>
            </a:extLst>
          </p:cNvPr>
          <p:cNvSpPr>
            <a:spLocks noGrp="1"/>
          </p:cNvSpPr>
          <p:nvPr>
            <p:ph idx="1"/>
          </p:nvPr>
        </p:nvSpPr>
        <p:spPr/>
        <p:txBody>
          <a:bodyPr/>
          <a:lstStyle/>
          <a:p>
            <a:pPr marL="0" indent="0">
              <a:buNone/>
            </a:pPr>
            <a:r>
              <a:rPr lang="en-US" dirty="0"/>
              <a:t>Data tables include 7 columns:</a:t>
            </a:r>
          </a:p>
          <a:p>
            <a:pPr marL="0" indent="0">
              <a:buNone/>
            </a:pPr>
            <a:r>
              <a:rPr lang="en-US" dirty="0"/>
              <a:t>(1) Number of data point, (2) name of data point, (3) source of data (web page address), (4) basis of comparison (what were you comparing the data to? Are you using a second website?), (5) remarks: hesitations, unclarities, questions…. (6) length, (7) degree. </a:t>
            </a:r>
          </a:p>
        </p:txBody>
      </p:sp>
      <p:sp>
        <p:nvSpPr>
          <p:cNvPr id="4" name="Footer Placeholder 3">
            <a:extLst>
              <a:ext uri="{FF2B5EF4-FFF2-40B4-BE49-F238E27FC236}">
                <a16:creationId xmlns:a16="http://schemas.microsoft.com/office/drawing/2014/main" id="{C0B594CC-102C-65FF-AC47-E130B3309F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5EDE2E2-DA04-5859-56CE-659BFCB73B97}"/>
              </a:ext>
            </a:extLst>
          </p:cNvPr>
          <p:cNvSpPr>
            <a:spLocks noGrp="1"/>
          </p:cNvSpPr>
          <p:nvPr>
            <p:ph type="sldNum" sz="quarter" idx="12"/>
          </p:nvPr>
        </p:nvSpPr>
        <p:spPr/>
        <p:txBody>
          <a:bodyPr/>
          <a:lstStyle/>
          <a:p>
            <a:fld id="{50030A04-F7E4-3E4B-9633-650D11AB5897}" type="slidenum">
              <a:rPr lang="en-US" smtClean="0"/>
              <a:t>30</a:t>
            </a:fld>
            <a:endParaRPr lang="en-US"/>
          </a:p>
        </p:txBody>
      </p:sp>
    </p:spTree>
    <p:extLst>
      <p:ext uri="{BB962C8B-B14F-4D97-AF65-F5344CB8AC3E}">
        <p14:creationId xmlns:p14="http://schemas.microsoft.com/office/powerpoint/2010/main" val="3093410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6D3FD-E7D0-92A3-26F6-8BB236D1A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89AAF-72D3-DA53-1C11-F2197237FCA5}"/>
              </a:ext>
            </a:extLst>
          </p:cNvPr>
          <p:cNvSpPr>
            <a:spLocks noGrp="1"/>
          </p:cNvSpPr>
          <p:nvPr>
            <p:ph type="title"/>
          </p:nvPr>
        </p:nvSpPr>
        <p:spPr/>
        <p:txBody>
          <a:bodyPr/>
          <a:lstStyle/>
          <a:p>
            <a:pPr algn="ctr"/>
            <a:r>
              <a:rPr lang="en-US" dirty="0"/>
              <a:t>Homework: The Region you chose</a:t>
            </a:r>
          </a:p>
        </p:txBody>
      </p:sp>
      <p:sp>
        <p:nvSpPr>
          <p:cNvPr id="3" name="Content Placeholder 2">
            <a:extLst>
              <a:ext uri="{FF2B5EF4-FFF2-40B4-BE49-F238E27FC236}">
                <a16:creationId xmlns:a16="http://schemas.microsoft.com/office/drawing/2014/main" id="{3D6FF639-425A-5F27-5D97-7850BDF8C4C7}"/>
              </a:ext>
            </a:extLst>
          </p:cNvPr>
          <p:cNvSpPr>
            <a:spLocks noGrp="1"/>
          </p:cNvSpPr>
          <p:nvPr>
            <p:ph idx="1"/>
          </p:nvPr>
        </p:nvSpPr>
        <p:spPr/>
        <p:txBody>
          <a:bodyPr/>
          <a:lstStyle/>
          <a:p>
            <a:pPr marL="0" indent="0">
              <a:buNone/>
            </a:pPr>
            <a:r>
              <a:rPr lang="en-US" dirty="0"/>
              <a:t>For those of you trying option 2 for the economic fix essay, try out the compass app. modules 1, 2, 3 for your environmental data points. Note that your “full” data set will have economic and social data as well, so the environmental data should only include about 5 data points. </a:t>
            </a:r>
          </a:p>
          <a:p>
            <a:pPr marL="0" indent="0">
              <a:buNone/>
            </a:pPr>
            <a:r>
              <a:rPr lang="en-US" dirty="0"/>
              <a:t>The </a:t>
            </a:r>
            <a:r>
              <a:rPr lang="en-US"/>
              <a:t>information and link </a:t>
            </a:r>
            <a:r>
              <a:rPr lang="en-US" dirty="0"/>
              <a:t>is in the electronic reserves on blackboard. </a:t>
            </a:r>
          </a:p>
        </p:txBody>
      </p:sp>
      <p:sp>
        <p:nvSpPr>
          <p:cNvPr id="4" name="Footer Placeholder 3">
            <a:extLst>
              <a:ext uri="{FF2B5EF4-FFF2-40B4-BE49-F238E27FC236}">
                <a16:creationId xmlns:a16="http://schemas.microsoft.com/office/drawing/2014/main" id="{38A53187-45B1-28F8-8D8D-AB1E2E7DC8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1544FD-D9D0-5DB0-0DB8-BC201FF54EAE}"/>
              </a:ext>
            </a:extLst>
          </p:cNvPr>
          <p:cNvSpPr>
            <a:spLocks noGrp="1"/>
          </p:cNvSpPr>
          <p:nvPr>
            <p:ph type="sldNum" sz="quarter" idx="12"/>
          </p:nvPr>
        </p:nvSpPr>
        <p:spPr/>
        <p:txBody>
          <a:bodyPr/>
          <a:lstStyle/>
          <a:p>
            <a:fld id="{50030A04-F7E4-3E4B-9633-650D11AB5897}" type="slidenum">
              <a:rPr lang="en-US" smtClean="0"/>
              <a:t>31</a:t>
            </a:fld>
            <a:endParaRPr lang="en-US"/>
          </a:p>
        </p:txBody>
      </p:sp>
    </p:spTree>
    <p:extLst>
      <p:ext uri="{BB962C8B-B14F-4D97-AF65-F5344CB8AC3E}">
        <p14:creationId xmlns:p14="http://schemas.microsoft.com/office/powerpoint/2010/main" val="880804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1141</TotalTime>
  <Words>2304</Words>
  <Application>Microsoft Macintosh PowerPoint</Application>
  <PresentationFormat>Widescreen</PresentationFormat>
  <Paragraphs>173</Paragraphs>
  <Slides>31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The Institutional Compass Environmental Data</vt:lpstr>
      <vt:lpstr>The Plan Today</vt:lpstr>
      <vt:lpstr>1. General Remarks</vt:lpstr>
      <vt:lpstr>1. General remarks: Purpose</vt:lpstr>
      <vt:lpstr>1. General remarks: Purpose</vt:lpstr>
      <vt:lpstr>1. General remarks: The three Qualities</vt:lpstr>
      <vt:lpstr>2. The Wish compass: Identifying a wish spot</vt:lpstr>
      <vt:lpstr> 2. The Wish Spot and the Actual Compass: An institutional compass indicates the direction of an institution in terms of the three general qualities.  </vt:lpstr>
      <vt:lpstr>2. An institutional compass indicates the direction of an institution in terms of the three general qualities.</vt:lpstr>
      <vt:lpstr>2. An institutional compass indicates the direction of an institution in terms of the three general qualities.</vt:lpstr>
      <vt:lpstr> 2. The actual arrow moves through policy and action.  </vt:lpstr>
      <vt:lpstr>3. Environmental Data, What is it?</vt:lpstr>
      <vt:lpstr>3. Environmental data – what is it? </vt:lpstr>
      <vt:lpstr>3. Environmental data – what is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4. Environmental data – how do we analyse it?  </vt:lpstr>
      <vt:lpstr>Homework: The Region you chose</vt:lpstr>
      <vt:lpstr>Homework: The Region you chose</vt:lpstr>
      <vt:lpstr>Homework: The Region you chose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Policy Compass for Ecological Economics</dc:title>
  <dc:creator>Friend, Michele</dc:creator>
  <cp:lastModifiedBy>Friend, Michele</cp:lastModifiedBy>
  <cp:revision>79</cp:revision>
  <dcterms:created xsi:type="dcterms:W3CDTF">2018-08-07T20:12:40Z</dcterms:created>
  <dcterms:modified xsi:type="dcterms:W3CDTF">2026-10-04T23:19:28Z</dcterms:modified>
</cp:coreProperties>
</file>